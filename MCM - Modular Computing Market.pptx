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2"/>
  </p:notesMasterIdLst>
  <p:sldIdLst>
    <p:sldId id="348" r:id="rId2"/>
    <p:sldId id="321" r:id="rId3"/>
    <p:sldId id="257" r:id="rId4"/>
    <p:sldId id="286" r:id="rId5"/>
    <p:sldId id="287" r:id="rId6"/>
    <p:sldId id="325" r:id="rId7"/>
    <p:sldId id="320" r:id="rId8"/>
    <p:sldId id="261" r:id="rId9"/>
    <p:sldId id="328" r:id="rId10"/>
    <p:sldId id="311" r:id="rId11"/>
    <p:sldId id="312" r:id="rId12"/>
    <p:sldId id="268" r:id="rId13"/>
    <p:sldId id="265" r:id="rId14"/>
    <p:sldId id="269" r:id="rId15"/>
    <p:sldId id="266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8" r:id="rId26"/>
    <p:sldId id="285" r:id="rId27"/>
    <p:sldId id="256" r:id="rId28"/>
    <p:sldId id="349" r:id="rId29"/>
    <p:sldId id="322" r:id="rId30"/>
    <p:sldId id="315" r:id="rId31"/>
    <p:sldId id="326" r:id="rId32"/>
    <p:sldId id="317" r:id="rId33"/>
    <p:sldId id="310" r:id="rId34"/>
    <p:sldId id="330" r:id="rId35"/>
    <p:sldId id="347" r:id="rId36"/>
    <p:sldId id="332" r:id="rId37"/>
    <p:sldId id="333" r:id="rId38"/>
    <p:sldId id="334" r:id="rId39"/>
    <p:sldId id="335" r:id="rId40"/>
    <p:sldId id="336" r:id="rId41"/>
    <p:sldId id="337" r:id="rId42"/>
    <p:sldId id="338" r:id="rId43"/>
    <p:sldId id="339" r:id="rId44"/>
    <p:sldId id="340" r:id="rId45"/>
    <p:sldId id="341" r:id="rId46"/>
    <p:sldId id="342" r:id="rId47"/>
    <p:sldId id="343" r:id="rId48"/>
    <p:sldId id="344" r:id="rId49"/>
    <p:sldId id="345" r:id="rId50"/>
    <p:sldId id="346" r:id="rId51"/>
  </p:sldIdLst>
  <p:sldSz cx="12192000" cy="6858000"/>
  <p:notesSz cx="6858000" cy="9144000"/>
  <p:embeddedFontLst>
    <p:embeddedFont>
      <p:font typeface="Avenir Next LT Pro Light" panose="020B0304020202020204" pitchFamily="34" charset="0"/>
      <p:regular r:id="rId53"/>
      <p:italic r:id="rId54"/>
    </p:embeddedFont>
    <p:embeddedFont>
      <p:font typeface="Play" panose="020B0604020202020204" charset="0"/>
      <p:regular r:id="rId55"/>
      <p:bold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3" roundtripDataSignature="AMtx7mhjnnOBueEcN0u1kZN0YBhiM5J5T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04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263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9A5EA6EC-85DB-151A-17FC-606C04120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08C425F4-837B-81CE-09A7-3143E151FC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6F8E043A-41D5-D4AA-9C7B-885BE8CC9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144F7BAD-481E-8656-69A8-52040180F77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341796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EA341289-EF68-BD13-2C24-D9F7851E2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C293D15D-C1A3-22C7-C27F-461D45921C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1B61ED74-D593-0179-C920-72B23C0F31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200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254364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DEADD-6DFA-3F2F-0965-1510903EE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91750705-BE33-4417-3F19-19DF0C1FF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76890768-5156-3D79-029D-97499DD1F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66ABC735-514E-ABE8-5E30-E5BA09A196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1622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46218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2C6E2-FF46-9001-8487-8867EDE88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BFB505F1-BDA9-FA9A-A507-94C256FC78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1291715D-ABF7-5C86-55A4-F32111A2E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33F8096-367D-F6B8-E46A-5EE16C3D948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6381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966722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574027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82634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320C1BC5-FC8D-B123-A102-F4D8CDDF4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3995AF3-12CE-4570-A4FF-E28E8CA188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9A06D543-86CF-6FB3-06BE-F4D888FE53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76513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>
          <a:extLst>
            <a:ext uri="{FF2B5EF4-FFF2-40B4-BE49-F238E27FC236}">
              <a16:creationId xmlns:a16="http://schemas.microsoft.com/office/drawing/2014/main" id="{4329DFEB-5E94-5C66-DEA6-9707DA674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>
            <a:extLst>
              <a:ext uri="{FF2B5EF4-FFF2-40B4-BE49-F238E27FC236}">
                <a16:creationId xmlns:a16="http://schemas.microsoft.com/office/drawing/2014/main" id="{B7555E9F-8EB6-D961-7A52-6AAA4D2F12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7" name="Google Shape;97;p2:notes">
            <a:extLst>
              <a:ext uri="{FF2B5EF4-FFF2-40B4-BE49-F238E27FC236}">
                <a16:creationId xmlns:a16="http://schemas.microsoft.com/office/drawing/2014/main" id="{D2650D38-E60E-836C-47D2-89F4357F7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393300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AB2E-6E90-1033-5D45-D50FB1818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77FDE6E9-FC87-E40D-FD7A-72BE8560D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A9177783-AC1E-5CC4-05D6-ECC2C5619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F8E3EF0-DE1E-6459-8677-F371A82199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170774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60992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3ACEF-0F3A-5D64-3048-E4075CA6E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D49E9FB6-67A4-DED2-F17F-B84285D11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1C85D881-BAC1-5744-6C0A-204F7489AB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6C5C206-34C2-2DCA-5A0F-B9D15E26A90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63305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F6D34-72B4-C81C-3C8C-2BB1BB61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811E37E5-16C3-69B7-50EC-C929017C79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30AFA958-B819-0BA3-0078-0BB39DFDE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41D43D7-DE74-F90A-4B82-FB8AB5E69F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97681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17BD-E980-622B-164D-139989B9F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207A38AB-C018-F3E4-B8C6-06E1730FE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9DFA00CE-00FC-1400-63C5-E8456C2C8C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7A83D42-ED36-9E4F-46B8-F3C3C51645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79249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1038F-B0D3-F11A-A5A2-FE4D0759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77CD773C-96E9-F9EB-29E8-C073F66CB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3E4C402E-08DA-A992-EB7D-041E2CA6B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218B2CBB-5584-3109-1F0E-F67F56667D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318821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>
          <a:extLst>
            <a:ext uri="{FF2B5EF4-FFF2-40B4-BE49-F238E27FC236}">
              <a16:creationId xmlns:a16="http://schemas.microsoft.com/office/drawing/2014/main" id="{C4CB59B7-7983-07EB-5AFF-54AFA13B6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2:notes">
            <a:extLst>
              <a:ext uri="{FF2B5EF4-FFF2-40B4-BE49-F238E27FC236}">
                <a16:creationId xmlns:a16="http://schemas.microsoft.com/office/drawing/2014/main" id="{9D6E1B7B-0F71-2741-D6CA-22C7FB7204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32:notes">
            <a:extLst>
              <a:ext uri="{FF2B5EF4-FFF2-40B4-BE49-F238E27FC236}">
                <a16:creationId xmlns:a16="http://schemas.microsoft.com/office/drawing/2014/main" id="{9848DD35-84F4-F827-542D-2AF60FCA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80124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2" name="Google Shape;22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8" name="Google Shape;28;p3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9" name="Google Shape;29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sp>
        <p:nvSpPr>
          <p:cNvPr id="40" name="Google Shape;40;p3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3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3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 dirty="0"/>
          </a:p>
        </p:txBody>
      </p:sp>
      <p:sp>
        <p:nvSpPr>
          <p:cNvPr id="46" name="Google Shape;46;p3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 dirty="0"/>
          </a:p>
        </p:txBody>
      </p:sp>
      <p:sp>
        <p:nvSpPr>
          <p:cNvPr id="52" name="Google Shape;52;p4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53" name="Google Shape;53;p4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 dirty="0"/>
          </a:p>
        </p:txBody>
      </p:sp>
      <p:sp>
        <p:nvSpPr>
          <p:cNvPr id="54" name="Google Shape;54;p4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55" name="Google Shape;55;p4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 dirty="0"/>
          </a:p>
        </p:txBody>
      </p:sp>
      <p:sp>
        <p:nvSpPr>
          <p:cNvPr id="61" name="Google Shape;61;p4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 dirty="0"/>
          </a:p>
        </p:txBody>
      </p:sp>
      <p:sp>
        <p:nvSpPr>
          <p:cNvPr id="62" name="Google Shape;62;p4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 dirty="0"/>
          </a:p>
        </p:txBody>
      </p:sp>
      <p:sp>
        <p:nvSpPr>
          <p:cNvPr id="69" name="Google Shape;69;p4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5" name="Google Shape;75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1" name="Google Shape;81;p4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2" name="Google Shape;12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1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8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9.sv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8.png"/><Relationship Id="rId4" Type="http://schemas.openxmlformats.org/officeDocument/2006/relationships/hyperlink" Target="mailto:teszt@email.com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1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8.jp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9.svg"/><Relationship Id="rId9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8.png"/><Relationship Id="rId4" Type="http://schemas.openxmlformats.org/officeDocument/2006/relationships/hyperlink" Target="mailto:teszt@email.com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0354EC50-6145-5A71-A37F-04C21E64F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AE903829-1A5D-633F-5F4C-A4D27C7A9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5B40E71-751D-BAC8-9C32-CF94EF0936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3558" y="4940691"/>
            <a:ext cx="7093774" cy="1079620"/>
          </a:xfrm>
          <a:prstGeom prst="rect">
            <a:avLst/>
          </a:prstGeom>
        </p:spPr>
      </p:pic>
      <p:sp>
        <p:nvSpPr>
          <p:cNvPr id="92" name="Google Shape;92;p1">
            <a:extLst>
              <a:ext uri="{FF2B5EF4-FFF2-40B4-BE49-F238E27FC236}">
                <a16:creationId xmlns:a16="http://schemas.microsoft.com/office/drawing/2014/main" id="{7EFED4ED-B22F-8B28-128B-AEF32E64B44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854824" y="5042350"/>
            <a:ext cx="6482342" cy="876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buNone/>
            </a:pPr>
            <a:r>
              <a:rPr lang="hu-HU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Kész</a:t>
            </a:r>
            <a:r>
              <a:rPr lang="en-US" sz="3000" dirty="0">
                <a:latin typeface="Aptos" panose="020B0004020202020204" pitchFamily="34" charset="0"/>
              </a:rPr>
              <a:t>í</a:t>
            </a:r>
            <a:r>
              <a:rPr lang="hu-HU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tette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: Bakk Hunor, Pásztor Simon, Halász  Marcell</a:t>
            </a:r>
            <a:endParaRPr sz="3000" dirty="0">
              <a:latin typeface="Aptos" panose="020B0004020202020204" pitchFamily="34" charset="0"/>
            </a:endParaRPr>
          </a:p>
        </p:txBody>
      </p:sp>
      <p:pic>
        <p:nvPicPr>
          <p:cNvPr id="94" name="Google Shape;94;p1">
            <a:extLst>
              <a:ext uri="{FF2B5EF4-FFF2-40B4-BE49-F238E27FC236}">
                <a16:creationId xmlns:a16="http://schemas.microsoft.com/office/drawing/2014/main" id="{941434D0-3546-D9B3-DE2A-7A3164429D5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6073136" y="-407994"/>
            <a:ext cx="45719" cy="9290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23DBFBE-4413-8110-5FDE-E4779F3060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58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E1F5EC3F-0324-D0E7-7961-DE468081E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3B208FDA-8070-9721-7777-740B923D1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0C9C4C34-A2C6-191C-8C66-FE5A778FB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0" y="1415444"/>
            <a:ext cx="7072333" cy="4853718"/>
          </a:xfrm>
          <a:prstGeom prst="rect">
            <a:avLst/>
          </a:prstGeom>
        </p:spPr>
      </p:pic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8A6DADDF-80BF-E929-68EE-08E488CB11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88829" y="256015"/>
            <a:ext cx="4175783" cy="84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parajita" panose="020B0502040204020203" pitchFamily="18" charset="0"/>
                <a:sym typeface="Arial"/>
              </a:rPr>
              <a:t>Projekt </a:t>
            </a:r>
            <a:r>
              <a:rPr lang="en-US" sz="4800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parajita" panose="020B0502040204020203" pitchFamily="18" charset="0"/>
                <a:sym typeface="Arial"/>
              </a:rPr>
              <a:t>tagok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parajita" panose="020B0502040204020203" pitchFamily="18" charset="0"/>
              <a:sym typeface="Arial"/>
            </a:endParaRPr>
          </a:p>
        </p:txBody>
      </p:sp>
      <p:sp>
        <p:nvSpPr>
          <p:cNvPr id="113" name="Google Shape;113;p3">
            <a:extLst>
              <a:ext uri="{FF2B5EF4-FFF2-40B4-BE49-F238E27FC236}">
                <a16:creationId xmlns:a16="http://schemas.microsoft.com/office/drawing/2014/main" id="{7D2139D3-281F-0EBC-2122-30EF7270C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27291" y="1420489"/>
            <a:ext cx="7072332" cy="4848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  <a:sym typeface="Arial"/>
              </a:rPr>
              <a:t>Projekt </a:t>
            </a:r>
            <a:r>
              <a:rPr lang="en-US" dirty="0" err="1">
                <a:latin typeface="Aptos" panose="020B0004020202020204" pitchFamily="34" charset="0"/>
                <a:sym typeface="Arial"/>
              </a:rPr>
              <a:t>vezet</a:t>
            </a:r>
            <a:r>
              <a:rPr lang="hu-HU" dirty="0">
                <a:latin typeface="Aptos" panose="020B0004020202020204" pitchFamily="34" charset="0"/>
                <a:sym typeface="Arial"/>
              </a:rPr>
              <a:t>ő </a:t>
            </a:r>
            <a:r>
              <a:rPr lang="hu-HU" dirty="0">
                <a:latin typeface="Aptos" panose="020B0004020202020204" pitchFamily="34" charset="0"/>
              </a:rPr>
              <a:t>és </a:t>
            </a:r>
            <a:r>
              <a:rPr lang="en-US" dirty="0">
                <a:latin typeface="Aptos" panose="020B0004020202020204" pitchFamily="34" charset="0"/>
                <a:sym typeface="Arial"/>
              </a:rPr>
              <a:t>Frontend –</a:t>
            </a:r>
            <a:r>
              <a:rPr lang="hu-HU" dirty="0">
                <a:latin typeface="Aptos" panose="020B0004020202020204" pitchFamily="34" charset="0"/>
              </a:rPr>
              <a:t> </a:t>
            </a:r>
            <a:r>
              <a:rPr lang="en-US" dirty="0">
                <a:latin typeface="Aptos" panose="020B0004020202020204" pitchFamily="34" charset="0"/>
                <a:sym typeface="Arial"/>
              </a:rPr>
              <a:t>Bakk Hunor</a:t>
            </a:r>
            <a:endParaRPr lang="hu-HU" dirty="0">
              <a:latin typeface="Aptos" panose="020B0004020202020204" pitchFamily="34" charset="0"/>
              <a:sym typeface="Arial"/>
            </a:endParaRPr>
          </a:p>
          <a:p>
            <a:pPr marL="0" lv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Angular </a:t>
            </a:r>
            <a:r>
              <a:rPr lang="en-US" dirty="0" err="1">
                <a:latin typeface="Aptos" panose="020B0004020202020204" pitchFamily="34" charset="0"/>
              </a:rPr>
              <a:t>felhasználói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felület</a:t>
            </a:r>
            <a:endParaRPr lang="hu-HU" dirty="0">
              <a:latin typeface="Aptos" panose="020B0004020202020204" pitchFamily="34" charset="0"/>
            </a:endParaRPr>
          </a:p>
          <a:p>
            <a:pPr marL="0" lvl="0" indent="0">
              <a:lnSpc>
                <a:spcPct val="100000"/>
              </a:lnSpc>
              <a:buSzPts val="2700"/>
              <a:buNone/>
            </a:pPr>
            <a:endParaRPr lang="en-US" dirty="0">
              <a:latin typeface="Aptos" panose="020B0004020202020204" pitchFamily="34" charset="0"/>
              <a:sym typeface="Arial"/>
            </a:endParaRPr>
          </a:p>
          <a:p>
            <a:pPr mar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Backend – P</a:t>
            </a:r>
            <a:r>
              <a:rPr lang="hu-HU" dirty="0">
                <a:latin typeface="Aptos" panose="020B0004020202020204" pitchFamily="34" charset="0"/>
              </a:rPr>
              <a:t>ásztor Simon</a:t>
            </a:r>
          </a:p>
          <a:p>
            <a:pPr marL="0" lv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REST API </a:t>
            </a:r>
            <a:r>
              <a:rPr lang="en-US" dirty="0" err="1">
                <a:latin typeface="Aptos" panose="020B0004020202020204" pitchFamily="34" charset="0"/>
              </a:rPr>
              <a:t>fejlesztés</a:t>
            </a:r>
            <a:endParaRPr lang="hu-HU" dirty="0">
              <a:latin typeface="Aptos" panose="020B0004020202020204" pitchFamily="34" charset="0"/>
            </a:endParaRPr>
          </a:p>
          <a:p>
            <a:pPr marL="0" lvl="0" indent="0">
              <a:lnSpc>
                <a:spcPct val="100000"/>
              </a:lnSpc>
              <a:buSzPts val="2700"/>
              <a:buNone/>
            </a:pPr>
            <a:endParaRPr lang="hu-HU" dirty="0">
              <a:latin typeface="Aptos" panose="020B0004020202020204" pitchFamily="34" charset="0"/>
              <a:sym typeface="Arial"/>
            </a:endParaRPr>
          </a:p>
          <a:p>
            <a:pPr marL="0" indent="0">
              <a:lnSpc>
                <a:spcPct val="100000"/>
              </a:lnSpc>
              <a:buSzPts val="2700"/>
              <a:buNone/>
            </a:pPr>
            <a:r>
              <a:rPr lang="hu-HU" dirty="0">
                <a:latin typeface="Aptos" panose="020B0004020202020204" pitchFamily="34" charset="0"/>
                <a:sym typeface="Arial"/>
              </a:rPr>
              <a:t>Adatbázis </a:t>
            </a:r>
            <a:r>
              <a:rPr lang="en-US" dirty="0">
                <a:latin typeface="Aptos" panose="020B0004020202020204" pitchFamily="34" charset="0"/>
              </a:rPr>
              <a:t>–</a:t>
            </a:r>
            <a:r>
              <a:rPr lang="hu-HU" dirty="0">
                <a:latin typeface="Aptos" panose="020B0004020202020204" pitchFamily="34" charset="0"/>
              </a:rPr>
              <a:t> Halász Marcell</a:t>
            </a:r>
          </a:p>
          <a:p>
            <a:pPr marL="0" lvl="0" indent="0">
              <a:lnSpc>
                <a:spcPct val="100000"/>
              </a:lnSpc>
              <a:buSzPts val="2700"/>
              <a:buNone/>
            </a:pPr>
            <a:r>
              <a:rPr lang="en-US" dirty="0" err="1">
                <a:latin typeface="Aptos" panose="020B0004020202020204" pitchFamily="34" charset="0"/>
              </a:rPr>
              <a:t>Adatbázis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tervezés</a:t>
            </a:r>
            <a:endParaRPr lang="hu-HU" dirty="0">
              <a:latin typeface="Aptos" panose="020B0004020202020204" pitchFamily="34" charset="0"/>
            </a:endParaRP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29D72540-04D8-4743-9B2E-18D5D408F84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3" y="3236409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2B272E44-9E80-9741-2789-B6869402860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5462CA70-E106-5C5F-36FA-DFFFAB419D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3488" y="2657282"/>
            <a:ext cx="2813055" cy="206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329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D52828B9-C42D-2869-C21F-E440C040B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1F99C0A6-6EFA-0862-05EB-9F6C79952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1" y="1628209"/>
            <a:ext cx="7335161" cy="4301687"/>
          </a:xfrm>
          <a:prstGeom prst="rect">
            <a:avLst/>
          </a:prstGeom>
        </p:spPr>
      </p:pic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3952902" y="284932"/>
            <a:ext cx="4595817" cy="794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Projekt </a:t>
            </a:r>
            <a:r>
              <a:rPr lang="en-US" sz="4800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tém</a:t>
            </a:r>
            <a:r>
              <a:rPr lang="hu-HU" sz="4800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ája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1427291" y="1628209"/>
            <a:ext cx="7256220" cy="430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spcBef>
                <a:spcPts val="0"/>
              </a:spcBef>
              <a:buSzPts val="2500"/>
              <a:buNone/>
              <a:tabLst>
                <a:tab pos="984250" algn="l"/>
              </a:tabLst>
            </a:pPr>
            <a:r>
              <a:rPr lang="en-US" sz="3000" dirty="0" err="1">
                <a:solidFill>
                  <a:schemeClr val="tx1"/>
                </a:solidFill>
                <a:latin typeface="Aptos" panose="020B0004020202020204" pitchFamily="34" charset="0"/>
                <a:sym typeface="Arial"/>
              </a:rPr>
              <a:t>Projektünk</a:t>
            </a:r>
            <a:r>
              <a:rPr lang="en-US" sz="3000" dirty="0">
                <a:solidFill>
                  <a:schemeClr val="tx1"/>
                </a:solidFill>
                <a:latin typeface="Aptos" panose="020B0004020202020204" pitchFamily="34" charset="0"/>
              </a:rPr>
              <a:t> f</a:t>
            </a:r>
            <a:r>
              <a:rPr lang="hu-HU" sz="3000" dirty="0">
                <a:solidFill>
                  <a:schemeClr val="tx1"/>
                </a:solidFill>
                <a:latin typeface="Aptos" panose="020B0004020202020204" pitchFamily="34" charset="0"/>
              </a:rPr>
              <a:t>ő célja hogy létrehozzunk egy olyan webshopot, ahol a vásárló kedve szerint tud vásárolni hardvert, kulcsot vagy ajándékkártyát</a:t>
            </a:r>
            <a:r>
              <a:rPr lang="en-US" sz="3000" dirty="0">
                <a:solidFill>
                  <a:schemeClr val="tx1"/>
                </a:solidFill>
                <a:latin typeface="Aptos" panose="020B0004020202020204" pitchFamily="34" charset="0"/>
                <a:sym typeface="Arial"/>
              </a:rPr>
              <a:t>.</a:t>
            </a:r>
            <a:endParaRPr lang="hu-HU" sz="3000" dirty="0">
              <a:solidFill>
                <a:schemeClr val="tx1"/>
              </a:solidFill>
              <a:latin typeface="Aptos" panose="020B0004020202020204" pitchFamily="34" charset="0"/>
              <a:sym typeface="Arial"/>
            </a:endParaRPr>
          </a:p>
          <a:p>
            <a:pPr marL="0" indent="0" algn="just">
              <a:spcBef>
                <a:spcPts val="0"/>
              </a:spcBef>
              <a:buSzPts val="2500"/>
              <a:buNone/>
              <a:tabLst>
                <a:tab pos="984250" algn="l"/>
              </a:tabLst>
            </a:pPr>
            <a:endParaRPr sz="3000" dirty="0">
              <a:solidFill>
                <a:schemeClr val="tx1"/>
              </a:solidFill>
              <a:latin typeface="Aptos" panose="020B0004020202020204" pitchFamily="34" charset="0"/>
              <a:sym typeface="Arial"/>
            </a:endParaRP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r>
              <a:rPr lang="hu-HU" sz="3000" dirty="0">
                <a:latin typeface="Aptos" panose="020B0004020202020204" pitchFamily="34" charset="0"/>
              </a:rPr>
              <a:t>Digitális termékek (kulcsok) - fiók nélkül</a:t>
            </a: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endParaRPr lang="hu-HU" sz="3000" dirty="0">
              <a:latin typeface="Aptos" panose="020B0004020202020204" pitchFamily="34" charset="0"/>
            </a:endParaRP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endParaRPr lang="hu-HU" sz="3000" dirty="0">
              <a:latin typeface="Aptos" panose="020B0004020202020204" pitchFamily="34" charset="0"/>
            </a:endParaRP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r>
              <a:rPr lang="hu-HU" sz="3000" dirty="0">
                <a:latin typeface="Aptos" panose="020B0004020202020204" pitchFamily="34" charset="0"/>
              </a:rPr>
              <a:t> Hardver vásárlás - profil szükséges</a:t>
            </a:r>
            <a:endParaRPr lang="en-US" sz="3000" dirty="0">
              <a:solidFill>
                <a:schemeClr val="tx1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F1D9734-A000-B323-9011-5340A1CED2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1E2145B-922B-554A-2A4F-3FB1D1B1D9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2400" y="1682160"/>
            <a:ext cx="1159971" cy="162975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0C55DD21-3BA5-DA92-AA97-37F73840F5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24260" y="2860522"/>
            <a:ext cx="1666758" cy="16892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268F5858-BB73-8D18-6D56-BC3EA258B3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4634" y="4289346"/>
            <a:ext cx="1350231" cy="18948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742BB70-486A-6F98-40B5-1982C57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88494D59-CFAE-B2AD-ED24-5F0596D4C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443" y="1489811"/>
            <a:ext cx="9404073" cy="4660004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5068A-3B16-6EBD-6582-C626967E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370" y="289849"/>
            <a:ext cx="5456563" cy="866200"/>
          </a:xfrm>
        </p:spPr>
        <p:txBody>
          <a:bodyPr>
            <a:noAutofit/>
          </a:bodyPr>
          <a:lstStyle/>
          <a:p>
            <a:r>
              <a:rPr lang="hu-HU" sz="4800" dirty="0">
                <a:solidFill>
                  <a:schemeClr val="tx1"/>
                </a:solidFill>
                <a:latin typeface="Aptos" panose="020B0004020202020204" pitchFamily="34" charset="0"/>
              </a:rPr>
              <a:t>Amit használtam</a:t>
            </a:r>
            <a:endParaRPr lang="en-US" sz="48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D30DB06-33F4-4735-AAE8-C98875DD5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93962" y="1489811"/>
            <a:ext cx="4709659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Frontend </a:t>
            </a:r>
            <a:r>
              <a:rPr lang="en-US" sz="3000" b="1" dirty="0" err="1">
                <a:latin typeface="Aptos" panose="020B0004020202020204" pitchFamily="34" charset="0"/>
              </a:rPr>
              <a:t>technológiák</a:t>
            </a:r>
            <a:r>
              <a:rPr lang="hu-HU" sz="3000" b="1" dirty="0">
                <a:latin typeface="Aptos" panose="020B0004020202020204" pitchFamily="34" charset="0"/>
              </a:rPr>
              <a:t>:</a:t>
            </a:r>
            <a:endParaRPr lang="en-US" sz="3000" b="1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Angular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 err="1">
                <a:latin typeface="Aptos" panose="020B0004020202020204" pitchFamily="34" charset="0"/>
              </a:rPr>
              <a:t>TypeScript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HTML5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CSS3 design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8EBDAF6-550A-24FB-685A-2A7A51DAC2B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32360" y="1482215"/>
            <a:ext cx="4671554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Tov</a:t>
            </a:r>
            <a:r>
              <a:rPr lang="hu-HU" sz="3000" b="1" dirty="0" err="1">
                <a:latin typeface="Aptos" panose="020B0004020202020204" pitchFamily="34" charset="0"/>
              </a:rPr>
              <a:t>ábbi</a:t>
            </a:r>
            <a:r>
              <a:rPr lang="hu-HU" sz="3000" b="1" dirty="0">
                <a:latin typeface="Aptos" panose="020B0004020202020204" pitchFamily="34" charset="0"/>
              </a:rPr>
              <a:t> </a:t>
            </a:r>
            <a:r>
              <a:rPr lang="en-US" sz="3000" b="1" dirty="0" err="1">
                <a:latin typeface="Aptos" panose="020B0004020202020204" pitchFamily="34" charset="0"/>
              </a:rPr>
              <a:t>programok</a:t>
            </a:r>
            <a:r>
              <a:rPr lang="hu-HU" sz="3000" b="1" dirty="0">
                <a:latin typeface="Aptos" panose="020B0004020202020204" pitchFamily="34" charset="0"/>
              </a:rPr>
              <a:t>:</a:t>
            </a:r>
            <a:endParaRPr lang="en-US" sz="3000" b="1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Visual Studio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Google Chrome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Chrome </a:t>
            </a:r>
            <a:r>
              <a:rPr lang="en-US" sz="3000" dirty="0" err="1">
                <a:latin typeface="Aptos" panose="020B0004020202020204" pitchFamily="34" charset="0"/>
              </a:rPr>
              <a:t>DevTools</a:t>
            </a:r>
            <a:r>
              <a:rPr lang="hu-HU" sz="3000" dirty="0">
                <a:latin typeface="Aptos" panose="020B0004020202020204" pitchFamily="34" charset="0"/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 err="1">
                <a:latin typeface="Aptos" panose="020B0004020202020204" pitchFamily="34" charset="0"/>
              </a:rPr>
              <a:t>Git</a:t>
            </a:r>
            <a:r>
              <a:rPr lang="hu-HU" sz="3000" dirty="0" err="1">
                <a:latin typeface="Aptos" panose="020B0004020202020204" pitchFamily="34" charset="0"/>
              </a:rPr>
              <a:t>hub</a:t>
            </a:r>
            <a:endParaRPr lang="en-US" sz="3000" dirty="0"/>
          </a:p>
        </p:txBody>
      </p:sp>
      <p:pic>
        <p:nvPicPr>
          <p:cNvPr id="9" name="Ábra 8">
            <a:extLst>
              <a:ext uri="{FF2B5EF4-FFF2-40B4-BE49-F238E27FC236}">
                <a16:creationId xmlns:a16="http://schemas.microsoft.com/office/drawing/2014/main" id="{27487EA8-8D76-F56B-94C9-F35F9F203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93557" y="2102549"/>
            <a:ext cx="1298443" cy="1326451"/>
          </a:xfrm>
          <a:prstGeom prst="rect">
            <a:avLst/>
          </a:prstGeom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703318A-4631-F240-D8C5-26B7EB8B19A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73138" y="1556771"/>
            <a:ext cx="45719" cy="452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959" y="3871813"/>
            <a:ext cx="1220199" cy="1220199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4" y="2102549"/>
            <a:ext cx="1387483" cy="1387483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47E4DBAB-EE3E-A6FA-B09A-5ED3773221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069" y="3871813"/>
            <a:ext cx="983445" cy="138911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31D2688-8699-A49E-5225-D1E84844CD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9C25F3D5-3E5B-6FDE-C7E1-B8578A7577A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7941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BA1F86A-FC29-1714-968A-8D3DAA6E8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6E5759F6-27AB-B50C-5387-949AC8941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12" name="Szöveg helye 11">
            <a:extLst>
              <a:ext uri="{FF2B5EF4-FFF2-40B4-BE49-F238E27FC236}">
                <a16:creationId xmlns:a16="http://schemas.microsoft.com/office/drawing/2014/main" id="{82BE4140-47F5-53BF-CF7E-E827D8B5A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0201" y="1064440"/>
            <a:ext cx="5928325" cy="5135526"/>
          </a:xfrm>
        </p:spPr>
        <p:txBody>
          <a:bodyPr>
            <a:noAutofit/>
          </a:bodyPr>
          <a:lstStyle/>
          <a:p>
            <a:pPr marL="114300" indent="0">
              <a:lnSpc>
                <a:spcPct val="120000"/>
              </a:lnSpc>
              <a:buNone/>
            </a:pPr>
            <a:r>
              <a:rPr lang="hu-HU" sz="3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Features</a:t>
            </a:r>
            <a:r>
              <a:rPr lang="hu-HU" sz="3000" b="1" dirty="0">
                <a:latin typeface="Aptos" panose="020B0004020202020204" pitchFamily="34" charset="0"/>
                <a:cs typeface="Times New Roman" panose="02020603050405020304" pitchFamily="18" charset="0"/>
              </a:rPr>
              <a:t>:</a:t>
            </a:r>
            <a:b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</a:br>
            <a: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  <a:t>Az alkalmazás fő funkciói külön modulokban </a:t>
            </a:r>
          </a:p>
          <a:p>
            <a:pPr marL="114300" indent="0">
              <a:lnSpc>
                <a:spcPct val="120000"/>
              </a:lnSpc>
              <a:buNone/>
            </a:pPr>
            <a:r>
              <a:rPr lang="hu-HU" sz="3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Shared</a:t>
            </a:r>
            <a:r>
              <a:rPr lang="hu-HU" sz="3000" b="1" dirty="0">
                <a:latin typeface="Aptos" panose="020B0004020202020204" pitchFamily="34" charset="0"/>
                <a:cs typeface="Times New Roman" panose="02020603050405020304" pitchFamily="18" charset="0"/>
              </a:rPr>
              <a:t>:</a:t>
            </a:r>
            <a:b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</a:br>
            <a:r>
              <a:rPr lang="hu-HU" sz="3000" dirty="0" err="1">
                <a:latin typeface="Aptos" panose="020B0004020202020204" pitchFamily="34" charset="0"/>
                <a:cs typeface="Times New Roman" panose="02020603050405020304" pitchFamily="18" charset="0"/>
              </a:rPr>
              <a:t>Újrahasználható</a:t>
            </a:r>
            <a: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  <a:t> komponensek</a:t>
            </a:r>
          </a:p>
          <a:p>
            <a:pPr marL="114300" indent="0">
              <a:lnSpc>
                <a:spcPct val="120000"/>
              </a:lnSpc>
              <a:buNone/>
            </a:pPr>
            <a:r>
              <a:rPr lang="hu-HU" sz="3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Assets</a:t>
            </a:r>
            <a:r>
              <a:rPr lang="hu-HU" sz="3000" b="1" dirty="0">
                <a:latin typeface="Aptos" panose="020B0004020202020204" pitchFamily="34" charset="0"/>
                <a:cs typeface="Times New Roman" panose="02020603050405020304" pitchFamily="18" charset="0"/>
              </a:rPr>
              <a:t>:</a:t>
            </a:r>
            <a:b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</a:br>
            <a: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  <a:t>Képek és ikonok.</a:t>
            </a:r>
          </a:p>
        </p:txBody>
      </p:sp>
      <p:sp>
        <p:nvSpPr>
          <p:cNvPr id="11" name="Cím 10">
            <a:extLst>
              <a:ext uri="{FF2B5EF4-FFF2-40B4-BE49-F238E27FC236}">
                <a16:creationId xmlns:a16="http://schemas.microsoft.com/office/drawing/2014/main" id="{0428B812-C8F8-5B11-8E11-FA06A4E8A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359" y="218984"/>
            <a:ext cx="5240377" cy="626472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Mappastruktúra</a:t>
            </a:r>
            <a:endParaRPr lang="en-US" sz="4800" dirty="0">
              <a:latin typeface="Aptos" panose="020B000402020202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4" name="Google Shape;114;p3">
            <a:extLst>
              <a:ext uri="{FF2B5EF4-FFF2-40B4-BE49-F238E27FC236}">
                <a16:creationId xmlns:a16="http://schemas.microsoft.com/office/drawing/2014/main" id="{DBBB081D-A504-B9E5-16FC-BEE7F5D90A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DBBB081D-A504-B9E5-16FC-BEE7F5D90A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119180F-DC0B-E9B9-CCCB-CCB924381D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C25D172A-3416-B403-DAFE-A0031F3C51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8493" y="1201086"/>
            <a:ext cx="3129289" cy="536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75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9923B-AFE5-4796-B499-9149C6EAA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9C82EE7B-A1BF-8A25-4A48-BE6D2CC9E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8" y="0"/>
            <a:ext cx="12192000" cy="6858000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394C50B9-7BCE-CF8A-3E6B-51C69F802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4" y="2794404"/>
            <a:ext cx="3502239" cy="19524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F7DE03E-B526-5998-26AE-59019A00E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5959" y="188052"/>
            <a:ext cx="3712433" cy="682074"/>
          </a:xfrm>
        </p:spPr>
        <p:txBody>
          <a:bodyPr>
            <a:noAutofit/>
          </a:bodyPr>
          <a:lstStyle/>
          <a:p>
            <a:r>
              <a:rPr lang="hu-HU" sz="4800" dirty="0" err="1">
                <a:latin typeface="Aptos" panose="020B0004020202020204" pitchFamily="34" charset="0"/>
              </a:rPr>
              <a:t>App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routes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D4C2C939-51DB-2C56-3F05-A4C3ACCCD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9434" y="2794404"/>
            <a:ext cx="3502239" cy="195240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Angular Router </a:t>
            </a:r>
            <a:r>
              <a:rPr lang="en-US" sz="3000" dirty="0" err="1">
                <a:latin typeface="Aptos" panose="020B0004020202020204" pitchFamily="34" charset="0"/>
              </a:rPr>
              <a:t>kezeli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az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alkalmazás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navigációját</a:t>
            </a:r>
            <a:r>
              <a:rPr lang="en-US" sz="3000" dirty="0">
                <a:latin typeface="Aptos" panose="020B0004020202020204" pitchFamily="34" charset="0"/>
              </a:rPr>
              <a:t>.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CC84A03-0EF5-6053-947C-CCF17033A2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279" y="1415443"/>
            <a:ext cx="7164287" cy="4714774"/>
          </a:xfrm>
          <a:prstGeom prst="rect">
            <a:avLst/>
          </a:prstGeom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D1B4A8C9-6E99-9283-247F-5E78EDD4977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1E03698A-41D3-2FB2-8B38-C23BD91EE65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E2C72D96-E695-CCCF-2F58-2171C1DC05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225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B7EB7E65-2B2B-0228-2974-0B863FEA1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Cím 7">
            <a:extLst>
              <a:ext uri="{FF2B5EF4-FFF2-40B4-BE49-F238E27FC236}">
                <a16:creationId xmlns:a16="http://schemas.microsoft.com/office/drawing/2014/main" id="{8D7FA7C9-F71D-FB30-2C18-E2A49AAB7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5237" y="0"/>
            <a:ext cx="5858323" cy="1325563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Főoldal </a:t>
            </a:r>
            <a:r>
              <a:rPr lang="en-US" sz="4800" dirty="0">
                <a:latin typeface="Aptos" panose="020B0004020202020204" pitchFamily="34" charset="0"/>
              </a:rPr>
              <a:t>+ </a:t>
            </a:r>
            <a:r>
              <a:rPr lang="en-US" sz="4800" dirty="0" err="1">
                <a:latin typeface="Aptos" panose="020B0004020202020204" pitchFamily="34" charset="0"/>
              </a:rPr>
              <a:t>Funkci</a:t>
            </a:r>
            <a:r>
              <a:rPr lang="hu-HU" sz="4800" dirty="0">
                <a:latin typeface="Aptos" panose="020B0004020202020204" pitchFamily="34" charset="0"/>
              </a:rPr>
              <a:t>ók</a:t>
            </a:r>
            <a:endParaRPr lang="en-US" sz="4800" dirty="0">
              <a:latin typeface="Aptos" panose="020B0004020202020204" pitchFamily="34" charset="0"/>
            </a:endParaRPr>
          </a:p>
        </p:txBody>
      </p:sp>
      <p:pic>
        <p:nvPicPr>
          <p:cNvPr id="4" name="Google Shape;114;p3">
            <a:extLst>
              <a:ext uri="{FF2B5EF4-FFF2-40B4-BE49-F238E27FC236}">
                <a16:creationId xmlns:a16="http://schemas.microsoft.com/office/drawing/2014/main" id="{7E8524F6-AC85-4F2B-DE87-3142AE10132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49ED4E40-5756-5704-20BF-D531927FB8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41" y="3175461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5C7CA18-7EC0-7197-2D21-3B9C40F337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072CCD6C-1451-59AC-74C9-23C1311019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251" y="1457514"/>
            <a:ext cx="5787061" cy="4644647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D9F12B83-2979-0815-8047-17ADD9F087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9688" y="1442947"/>
            <a:ext cx="5787061" cy="46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705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19">
            <a:extLst>
              <a:ext uri="{FF2B5EF4-FFF2-40B4-BE49-F238E27FC236}">
                <a16:creationId xmlns:a16="http://schemas.microsoft.com/office/drawing/2014/main" id="{0916FD2A-7D57-CCEA-D713-4200095B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Cím 9">
            <a:extLst>
              <a:ext uri="{FF2B5EF4-FFF2-40B4-BE49-F238E27FC236}">
                <a16:creationId xmlns:a16="http://schemas.microsoft.com/office/drawing/2014/main" id="{ECB54ACE-1D2C-901B-8874-09093ED7B3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79714" y="177678"/>
            <a:ext cx="5155493" cy="701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Kosár </a:t>
            </a:r>
            <a:r>
              <a:rPr lang="en-US" dirty="0">
                <a:latin typeface="Aptos" panose="020B0004020202020204" pitchFamily="34" charset="0"/>
              </a:rPr>
              <a:t>+</a:t>
            </a:r>
            <a:r>
              <a:rPr lang="hu-HU" dirty="0">
                <a:latin typeface="Aptos" panose="020B0004020202020204" pitchFamily="34" charset="0"/>
              </a:rPr>
              <a:t> Pénztár</a:t>
            </a:r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559FC6A-CE66-A596-1D5C-6FACC32EC0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9007"/>
          <a:stretch/>
        </p:blipFill>
        <p:spPr>
          <a:xfrm>
            <a:off x="9259144" y="1429864"/>
            <a:ext cx="2455017" cy="476311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FE4D64E-9FEB-2379-6952-8DA1E0046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42" y="1429864"/>
            <a:ext cx="8241263" cy="4763118"/>
          </a:xfrm>
          <a:prstGeom prst="rect">
            <a:avLst/>
          </a:prstGeom>
        </p:spPr>
      </p:pic>
      <p:pic>
        <p:nvPicPr>
          <p:cNvPr id="22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41" y="3175461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A5FBC871-4314-81E5-BAA0-E2B00BA642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05AA0-3D4E-B3FF-77B3-9019AAA11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BAB86684-C5E6-E09B-93D4-D2E2CACF5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73514157-A8E8-FF5E-6503-4ADC48DD2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51" y="1525221"/>
            <a:ext cx="4757767" cy="13503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F87AD7D-F828-0224-A4E2-D9232A015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3833" y="189252"/>
            <a:ext cx="5236882" cy="782319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Felugró ablakok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25AC3F2A-0DD9-6B02-C382-9667961C7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1150" y="1520567"/>
            <a:ext cx="4757767" cy="1350315"/>
          </a:xfrm>
        </p:spPr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A </a:t>
            </a:r>
            <a:r>
              <a:rPr lang="en-US" sz="3000" dirty="0" err="1">
                <a:latin typeface="Aptos" panose="020B0004020202020204" pitchFamily="34" charset="0"/>
              </a:rPr>
              <a:t>weboldalon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hu-HU" sz="3000" dirty="0">
                <a:latin typeface="Aptos" panose="020B0004020202020204" pitchFamily="34" charset="0"/>
              </a:rPr>
              <a:t>modális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ablakokat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használ</a:t>
            </a:r>
            <a:r>
              <a:rPr lang="hu-HU" sz="3000" dirty="0" err="1">
                <a:latin typeface="Aptos" panose="020B0004020202020204" pitchFamily="34" charset="0"/>
              </a:rPr>
              <a:t>unk</a:t>
            </a:r>
            <a:r>
              <a:rPr lang="hu-HU" sz="3000" dirty="0">
                <a:latin typeface="Aptos" panose="020B0004020202020204" pitchFamily="34" charset="0"/>
              </a:rPr>
              <a:t>.</a:t>
            </a:r>
            <a:endParaRPr lang="en-US" sz="3000" dirty="0">
              <a:latin typeface="Aptos" panose="020B00040202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C20CD0A-BF89-7F67-59D5-10BF45BEF7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1240" y="1442947"/>
            <a:ext cx="4955196" cy="19058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B1D6760-D0D9-1BF7-054B-05AC4B8277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21" y="3297993"/>
            <a:ext cx="4826233" cy="239227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4D712044-6786-04F1-FD93-726E07952F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7" y="4090079"/>
            <a:ext cx="5427697" cy="2080617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ADE19EA3-905F-58D6-E6AA-31AB8EC1B382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35509B46-3627-812D-A6C2-BD7FBAAFCAE7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5BB96BE-D51A-0EDC-9D0A-5DF1202CEED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627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0619985A-D699-65EC-EC61-AD6623A99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FC514922-D605-2C1B-6F27-875B14D9C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657" y="1609798"/>
            <a:ext cx="9306390" cy="43016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46AEEA-9F7C-E708-1B36-60AA1036F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8020" y="270216"/>
            <a:ext cx="3131434" cy="866197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Backend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EBE669-A2B6-4FD7-80CC-28E4E3CF7E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6657" y="1609080"/>
            <a:ext cx="9306390" cy="1819919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projekt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backend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része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Node.js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alapú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Express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keretrendszerrel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működik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Ez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egy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REST API,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amely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frontend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számára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fog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biztosítani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adatkezelési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végpontokat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6FB642-0DF6-95ED-32A9-CDED06614EB1}"/>
              </a:ext>
            </a:extLst>
          </p:cNvPr>
          <p:cNvSpPr txBox="1"/>
          <p:nvPr/>
        </p:nvSpPr>
        <p:spPr>
          <a:xfrm>
            <a:off x="1448953" y="3421329"/>
            <a:ext cx="9294094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A backend </a:t>
            </a:r>
            <a:r>
              <a:rPr lang="en-US" sz="2400" dirty="0" err="1">
                <a:latin typeface="Aptos" panose="020B0004020202020204" pitchFamily="34" charset="0"/>
              </a:rPr>
              <a:t>feladatai</a:t>
            </a:r>
            <a:r>
              <a:rPr lang="en-US" sz="2400" dirty="0">
                <a:latin typeface="Aptos" panose="020B0004020202020204" pitchFamily="34" charset="0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Felhasználókezelés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Kosárkezelés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Rendeléskezelés</a:t>
            </a:r>
            <a:endParaRPr lang="en-US" sz="24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Készletellenőrzés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csökkentés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Jogosultságkezelés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</a:p>
          <a:p>
            <a:pPr algn="l"/>
            <a:endParaRPr lang="en-US" sz="2400" dirty="0"/>
          </a:p>
        </p:txBody>
      </p:sp>
      <p:pic>
        <p:nvPicPr>
          <p:cNvPr id="5" name="Picture 4" descr="Node.js - Wikipedia">
            <a:extLst>
              <a:ext uri="{FF2B5EF4-FFF2-40B4-BE49-F238E27FC236}">
                <a16:creationId xmlns:a16="http://schemas.microsoft.com/office/drawing/2014/main" id="{C6384965-CD58-7E3E-E67E-9ED0C19FC6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0116" y="3047493"/>
            <a:ext cx="3800142" cy="2520347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2414905E-4A21-2969-A170-0C94EF3B2FD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5671FDB2-D02E-00B7-4D52-46326EB0F08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6146585-1B2D-B20F-B36C-64474919E9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441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A51C136-000F-CAB0-5D38-8E4F9F6BE2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D09B2570-5B84-291B-80CB-C3A8559095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892DC8-AFF9-387A-9041-17C5F9971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4375" y="448206"/>
            <a:ext cx="4670186" cy="495208"/>
          </a:xfrm>
        </p:spPr>
        <p:txBody>
          <a:bodyPr>
            <a:noAutofit/>
          </a:bodyPr>
          <a:lstStyle/>
          <a:p>
            <a:r>
              <a:rPr lang="en-US" sz="4800" dirty="0" err="1"/>
              <a:t>Mappa</a:t>
            </a:r>
            <a:r>
              <a:rPr lang="en-US" sz="4800" b="0" dirty="0" err="1"/>
              <a:t>struktúra</a:t>
            </a:r>
            <a:endParaRPr lang="en-US" sz="4800" b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6350F-7E77-F3AE-8C2B-767B9A97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799" y="-7629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7B4D7-0EC2-DE37-AD8E-2AF3FA45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54810-8AF9-7400-386A-F184E6A45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8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C28215-4D82-74B7-FF24-1F2CDF90A579}"/>
              </a:ext>
            </a:extLst>
          </p:cNvPr>
          <p:cNvSpPr txBox="1"/>
          <p:nvPr/>
        </p:nvSpPr>
        <p:spPr>
          <a:xfrm>
            <a:off x="460199" y="1205602"/>
            <a:ext cx="4068844" cy="56323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backend/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src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/</a:t>
            </a: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config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Adatbázis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kapcsolat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beállítása</a:t>
            </a:r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endParaRPr lang="en-US" sz="2000" b="1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controllers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 </a:t>
            </a: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Üzleti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logika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kezelése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Tranzakciók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Stock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ellenőrzés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Jogosultság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ellenőrzés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models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adatbázis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struktúra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definiálása</a:t>
            </a:r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pPr marL="285750" indent="-285750">
              <a:buFont typeface="Calibri"/>
              <a:buChar char="-"/>
            </a:pP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ORM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kapcsolat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kezelése</a:t>
            </a:r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adatok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lekérdezése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és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mentése</a:t>
            </a: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routes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HTTP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végpontok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definiálása</a:t>
            </a: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endParaRPr lang="en-US" sz="2000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E34DCED-16E2-E924-2475-4C422470C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007" y="1452881"/>
            <a:ext cx="3466332" cy="47737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312A85F2-8460-8F51-B7A7-25950DE5494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14;p3">
            <a:extLst>
              <a:ext uri="{FF2B5EF4-FFF2-40B4-BE49-F238E27FC236}">
                <a16:creationId xmlns:a16="http://schemas.microsoft.com/office/drawing/2014/main" id="{BBCF1905-7C96-53BA-57F7-06F4A79A6786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5C3C6BC0-E7AF-46D8-FCFA-51ED63C68E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859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05EB2BBC-B0B2-1B83-F410-DDA265606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2"/>
            <a:ext cx="6018535" cy="536343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CD72FAB-1F45-01A9-CEF4-2813A98E4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659574DD-1399-7276-0629-36C578529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930C54-AC1C-EF04-FCBB-337234EFB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257" y="301671"/>
            <a:ext cx="4114794" cy="767405"/>
          </a:xfrm>
        </p:spPr>
        <p:txBody>
          <a:bodyPr>
            <a:noAutofit/>
          </a:bodyPr>
          <a:lstStyle/>
          <a:p>
            <a:r>
              <a:rPr lang="en-US" sz="4800" b="0" dirty="0" err="1">
                <a:latin typeface="Aptos" panose="020B0004020202020204" pitchFamily="34" charset="0"/>
              </a:rPr>
              <a:t>Middlewares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DB48A-723C-BC60-0D4E-04C517E51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201" y="1205601"/>
            <a:ext cx="5701259" cy="5363437"/>
          </a:xfrm>
        </p:spPr>
        <p:txBody>
          <a:bodyPr vert="horz" lIns="0" tIns="0" rIns="0" bIns="0" rtlCol="0" anchor="t">
            <a:normAutofit/>
          </a:bodyPr>
          <a:lstStyle/>
          <a:p>
            <a:pPr marL="0" indent="0">
              <a:buNone/>
            </a:pPr>
            <a:endParaRPr lang="en-US" sz="1800" b="1" dirty="0">
              <a:latin typeface="Aptos" panose="020B0004020202020204" pitchFamily="34" charset="0"/>
            </a:endParaRPr>
          </a:p>
          <a:p>
            <a:r>
              <a:rPr lang="en-US" sz="2400" b="1" dirty="0">
                <a:latin typeface="Aptos" panose="020B0004020202020204" pitchFamily="34" charset="0"/>
                <a:ea typeface="+mn-lt"/>
                <a:cs typeface="+mn-lt"/>
              </a:rPr>
              <a:t>Auth.middleware.js: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Ellenőrzi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JWT-t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az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authorization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fejlécben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 Ha a token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érvényes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felhasználó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adatai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bekerülnek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req.user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objektumba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ha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hiányzik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vagy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hibás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kérés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hibát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kap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(401 / 403).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Védett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végpontoknál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használjuk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  <a:p>
            <a:endParaRPr lang="en-US" sz="2400" dirty="0">
              <a:latin typeface="Aptos" panose="020B0004020202020204" pitchFamily="34" charset="0"/>
              <a:ea typeface="+mn-lt"/>
              <a:cs typeface="+mn-lt"/>
            </a:endParaRPr>
          </a:p>
          <a:p>
            <a:r>
              <a:rPr lang="en-US" sz="2400" b="1" dirty="0">
                <a:latin typeface="Aptos" panose="020B0004020202020204" pitchFamily="34" charset="0"/>
                <a:ea typeface="+mn-lt"/>
                <a:cs typeface="+mn-lt"/>
              </a:rPr>
              <a:t>Optional.middleware.js: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Opcionálisan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ellenőrzi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tokent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 Ha van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érvényes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token,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betölti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felhasználót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ha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nincs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vagy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hibás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kérés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vendégként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folytatódik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Arial,Sans-Serif" panose="020B0604020202020204" pitchFamily="34" charset="0"/>
            </a:pP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85E68-D49F-D74E-6199-94412F66646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24D4-CDCA-19A4-9108-E6D9FDBC0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BABEB-48EB-7D3C-9BDA-33B6953CE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-1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DAFB100-0F2C-06F6-03AD-10B1383B4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07" y="660163"/>
            <a:ext cx="4463405" cy="276883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8" name="Picture 7" descr="A computer screen shot of code&#10;&#10;AI-generated content may be incorrect.">
            <a:extLst>
              <a:ext uri="{FF2B5EF4-FFF2-40B4-BE49-F238E27FC236}">
                <a16:creationId xmlns:a16="http://schemas.microsoft.com/office/drawing/2014/main" id="{A195F32C-D87C-CCA9-06A9-76918A5AD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8644" y="3651156"/>
            <a:ext cx="4463405" cy="291788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1EDB9D6E-ECCE-9C78-104D-2F53B3C11DF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FD31C93E-21F7-7965-D78E-31131A5AB1B5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35582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512780BB-CFC2-C16D-BB0E-7CC4A71EF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F910CB78-856C-A874-F451-DAE2BE5056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2" y="1205603"/>
            <a:ext cx="4473812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62C593D-211D-37B8-3602-5E72E15BE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87" y="362662"/>
            <a:ext cx="6055321" cy="696624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REGISTER &amp; login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9295B5-D7BE-519C-750F-F4E3F1A27F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-7395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D09E3B-1741-54DE-4202-8899E9E7E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629EC-C45D-9621-5677-707553DF1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9" y="-739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561E52-992A-2D04-4DC0-B675F845ED36}"/>
              </a:ext>
            </a:extLst>
          </p:cNvPr>
          <p:cNvSpPr txBox="1"/>
          <p:nvPr/>
        </p:nvSpPr>
        <p:spPr>
          <a:xfrm>
            <a:off x="460201" y="1291160"/>
            <a:ext cx="3914229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Új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felhasználó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létrehozása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Jelszó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titkosítása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(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bcrypt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)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Ellenőrzi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hogy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foglalt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-e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</a:rPr>
              <a:t>Utána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automatikus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bejelentkezés</a:t>
            </a:r>
            <a:endParaRPr lang="en-US" sz="2000" dirty="0">
              <a:latin typeface="Aptos" panose="020B0004020202020204" pitchFamily="34" charset="0"/>
            </a:endParaRPr>
          </a:p>
          <a:p>
            <a:endParaRPr lang="en-US" dirty="0">
              <a:latin typeface="Avenir Next LT Pro Ligh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99D6B4-F8B0-E02D-9AC3-C30F9234122F}"/>
              </a:ext>
            </a:extLst>
          </p:cNvPr>
          <p:cNvSpPr txBox="1"/>
          <p:nvPr/>
        </p:nvSpPr>
        <p:spPr>
          <a:xfrm>
            <a:off x="461056" y="3476435"/>
            <a:ext cx="6017680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000" dirty="0" err="1">
              <a:latin typeface="Aptos" panose="020B0004020202020204" pitchFamily="34" charset="0"/>
            </a:endParaRPr>
          </a:p>
          <a:p>
            <a:r>
              <a:rPr lang="en-US" sz="2000" b="1" dirty="0">
                <a:latin typeface="Aptos" panose="020B0004020202020204" pitchFamily="34" charset="0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</a:rPr>
              <a:t>api</a:t>
            </a:r>
            <a:r>
              <a:rPr lang="en-US" sz="2000" b="1" dirty="0">
                <a:latin typeface="Aptos" panose="020B0004020202020204" pitchFamily="34" charset="0"/>
              </a:rPr>
              <a:t>/auth/login</a:t>
            </a:r>
          </a:p>
          <a:p>
            <a:r>
              <a:rPr lang="en-US" sz="2000" dirty="0" err="1">
                <a:latin typeface="Aptos" panose="020B0004020202020204" pitchFamily="34" charset="0"/>
              </a:rPr>
              <a:t>Feladata</a:t>
            </a:r>
            <a:r>
              <a:rPr lang="en-US" sz="2000" dirty="0">
                <a:latin typeface="Aptos" panose="020B0004020202020204" pitchFamily="34" charset="0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Felhasználó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keresése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adatbázisban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Jelszó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ellenőrzése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JWT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generálás</a:t>
            </a:r>
            <a:endParaRPr lang="en-US" sz="2000" dirty="0">
              <a:latin typeface="Aptos" panose="020B0004020202020204" pitchFamily="34" charset="0"/>
            </a:endParaRPr>
          </a:p>
          <a:p>
            <a:pPr algn="l"/>
            <a:endParaRPr lang="en-US" dirty="0"/>
          </a:p>
        </p:txBody>
      </p:sp>
      <p:pic>
        <p:nvPicPr>
          <p:cNvPr id="12" name="Content Placeholder 11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58A2C6A-2ACD-594E-0841-EF4544E189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394217" y="3893764"/>
            <a:ext cx="4473812" cy="279481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Picture 1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2046F3BC-5BC2-B72B-02DD-243923BDA3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5609" y="484968"/>
            <a:ext cx="4341109" cy="309734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DC954D6-7E1E-A038-9C71-15A25067C93A}"/>
              </a:ext>
            </a:extLst>
          </p:cNvPr>
          <p:cNvSpPr txBox="1"/>
          <p:nvPr/>
        </p:nvSpPr>
        <p:spPr>
          <a:xfrm>
            <a:off x="10226436" y="4983395"/>
            <a:ext cx="208503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Login.controller.js</a:t>
            </a:r>
          </a:p>
        </p:txBody>
      </p:sp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82F34CDB-8025-66C9-9F86-53CA5D5BDC9D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2672481" y="-1132342"/>
            <a:ext cx="49255" cy="4473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14;p3">
            <a:extLst>
              <a:ext uri="{FF2B5EF4-FFF2-40B4-BE49-F238E27FC236}">
                <a16:creationId xmlns:a16="http://schemas.microsoft.com/office/drawing/2014/main" id="{CFEB5F82-BF94-0819-DDDE-A890A85E38C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 flipH="1">
            <a:off x="2674250" y="4434938"/>
            <a:ext cx="45719" cy="44738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3417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4526AB57-EDB9-27C0-81BF-447B972F6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085"/>
            <a:ext cx="12192000" cy="6885564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E93651C7-F140-480F-4A06-D9C28A67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1" y="1205604"/>
            <a:ext cx="6801977" cy="46499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DDFDD8-9816-313B-BC4B-743314072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649" y="245159"/>
            <a:ext cx="6765911" cy="709355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Cart &amp; order/checkout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63722-FE33-0042-03D4-5F58CC3B5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59" y="1220157"/>
            <a:ext cx="3405873" cy="2605361"/>
          </a:xfrm>
        </p:spPr>
        <p:txBody>
          <a:bodyPr vert="horz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000000"/>
                </a:solidFill>
                <a:latin typeface="Aptos" panose="020B0004020202020204" pitchFamily="34" charset="0"/>
              </a:rPr>
              <a:t>Felhasználóknak</a:t>
            </a:r>
            <a:r>
              <a:rPr lang="en-US" sz="2000" b="1" dirty="0">
                <a:solidFill>
                  <a:srgbClr val="000000"/>
                </a:solidFill>
                <a:latin typeface="Aptos" panose="020B0004020202020204" pitchFamily="34" charset="0"/>
              </a:rPr>
              <a:t>: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sz="2000" dirty="0" err="1">
                <a:latin typeface="Aptos" panose="020B0004020202020204" pitchFamily="34" charset="0"/>
              </a:rPr>
              <a:t>Megvásárolható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az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összes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termék</a:t>
            </a:r>
            <a:endParaRPr lang="en-US" sz="2000" dirty="0">
              <a:latin typeface="Aptos" panose="020B0004020202020204" pitchFamily="34" charset="0"/>
            </a:endParaRPr>
          </a:p>
          <a:p>
            <a:pPr>
              <a:buFont typeface="Calibri" panose="020B0604020202020204" pitchFamily="34" charset="0"/>
              <a:buChar char="-"/>
            </a:pPr>
            <a:r>
              <a:rPr lang="en-US" sz="2000" dirty="0" err="1">
                <a:latin typeface="Aptos" panose="020B0004020202020204" pitchFamily="34" charset="0"/>
              </a:rPr>
              <a:t>Hardver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termék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vásárlása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esetén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kötelező</a:t>
            </a:r>
            <a:r>
              <a:rPr lang="en-US" sz="2000" dirty="0">
                <a:latin typeface="Aptos" panose="020B0004020202020204" pitchFamily="34" charset="0"/>
              </a:rPr>
              <a:t> a </a:t>
            </a:r>
            <a:r>
              <a:rPr lang="en-US" sz="2000" dirty="0" err="1">
                <a:latin typeface="Aptos" panose="020B0004020202020204" pitchFamily="34" charset="0"/>
              </a:rPr>
              <a:t>szállítási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adatok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megadása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B424B-F7EA-8E51-706E-70D590CDC5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2E393-B92B-CDF6-8025-0E68A23A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A77FB-4951-6286-17F0-1CDF2B3CC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1391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314DB2F-12AA-2A5D-6E6D-F42A31760AEF}"/>
              </a:ext>
            </a:extLst>
          </p:cNvPr>
          <p:cNvSpPr txBox="1">
            <a:spLocks/>
          </p:cNvSpPr>
          <p:nvPr/>
        </p:nvSpPr>
        <p:spPr>
          <a:xfrm>
            <a:off x="4062590" y="1290679"/>
            <a:ext cx="3202463" cy="2174840"/>
          </a:xfrm>
          <a:prstGeom prst="rect">
            <a:avLst/>
          </a:prstGeom>
        </p:spPr>
        <p:txBody>
          <a:bodyPr vert="horz" lIns="0" tIns="0" rIns="0" bIns="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 err="1">
                <a:latin typeface="Aptos" panose="020B0004020202020204" pitchFamily="34" charset="0"/>
              </a:rPr>
              <a:t>Vendégeknek</a:t>
            </a:r>
            <a:r>
              <a:rPr lang="en-US" b="1" dirty="0">
                <a:latin typeface="Aptos" panose="020B0004020202020204" pitchFamily="34" charset="0"/>
              </a:rPr>
              <a:t>:</a:t>
            </a:r>
            <a:endParaRPr lang="en-US" dirty="0">
              <a:latin typeface="Aptos" panose="020B0004020202020204" pitchFamily="34" charset="0"/>
            </a:endParaRPr>
          </a:p>
          <a:p>
            <a:pPr>
              <a:buFont typeface="Calibri"/>
              <a:buChar char="-"/>
            </a:pP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Csak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játékkulcs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és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ajándékkártya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vásárolható</a:t>
            </a:r>
            <a:endParaRPr lang="en-US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buFont typeface="Calibri"/>
              <a:buChar char="-"/>
            </a:pP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Elég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egy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email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cím</a:t>
            </a:r>
            <a:endParaRPr lang="en-US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buFont typeface="Calibri"/>
              <a:buChar char="-"/>
            </a:pP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Privát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és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kényelmes</a:t>
            </a:r>
          </a:p>
          <a:p>
            <a:pPr>
              <a:buFont typeface="Calibri" panose="020B0604020202020204" pitchFamily="34" charset="0"/>
              <a:buChar char="-"/>
            </a:pPr>
            <a:endParaRPr lang="en-US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9EB514-1B33-170C-6312-EA0FDE81F26F}"/>
              </a:ext>
            </a:extLst>
          </p:cNvPr>
          <p:cNvSpPr txBox="1"/>
          <p:nvPr/>
        </p:nvSpPr>
        <p:spPr>
          <a:xfrm>
            <a:off x="454425" y="3429000"/>
            <a:ext cx="3118318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latin typeface="Aptos" panose="020B0004020202020204" pitchFamily="34" charset="0"/>
              </a:rPr>
              <a:t>Példa</a:t>
            </a:r>
            <a:r>
              <a:rPr lang="en-US" dirty="0">
                <a:latin typeface="Aptos" panose="020B0004020202020204" pitchFamily="34" charset="0"/>
              </a:rPr>
              <a:t>: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{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first_name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"Kiss",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last_name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"Péter",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"email": "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  <a:hlinkClick r:id="rId4"/>
              </a:rPr>
              <a:t>teszt@email.com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"phone": "06301234567",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zip_code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"1111",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"city": "Budapest",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address_line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"Sziget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utca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12",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additional_info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"2.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emelet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5."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}</a:t>
            </a:r>
            <a:endParaRPr lang="en-US" dirty="0">
              <a:latin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0093A2-8EFF-4B3C-7CAC-E1B1EB78545A}"/>
              </a:ext>
            </a:extLst>
          </p:cNvPr>
          <p:cNvSpPr txBox="1"/>
          <p:nvPr/>
        </p:nvSpPr>
        <p:spPr>
          <a:xfrm>
            <a:off x="3964332" y="3483407"/>
            <a:ext cx="3022879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 err="1">
                <a:latin typeface="Aptos" panose="020B0004020202020204" pitchFamily="34" charset="0"/>
              </a:rPr>
              <a:t>Példa</a:t>
            </a:r>
            <a:r>
              <a:rPr lang="en-US" sz="2400" dirty="0">
                <a:latin typeface="Aptos" panose="020B0004020202020204" pitchFamily="34" charset="0"/>
              </a:rPr>
              <a:t>: </a:t>
            </a:r>
          </a:p>
          <a:p>
            <a:r>
              <a:rPr lang="en-US" sz="2400" dirty="0">
                <a:latin typeface="Aptos" panose="020B0004020202020204" pitchFamily="34" charset="0"/>
              </a:rPr>
              <a:t>{</a:t>
            </a:r>
          </a:p>
          <a:p>
            <a:r>
              <a:rPr lang="en-US" sz="2400" dirty="0">
                <a:latin typeface="Aptos" panose="020B0004020202020204" pitchFamily="34" charset="0"/>
              </a:rPr>
              <a:t>  "email": "</a:t>
            </a:r>
            <a:r>
              <a:rPr lang="en-US" sz="2400" dirty="0">
                <a:latin typeface="Aptos" panose="020B0004020202020204" pitchFamily="34" charset="0"/>
                <a:hlinkClick r:id="rId4"/>
              </a:rPr>
              <a:t>teszt@email.com</a:t>
            </a:r>
            <a:r>
              <a:rPr lang="en-US" sz="2400" dirty="0">
                <a:latin typeface="Aptos" panose="020B0004020202020204" pitchFamily="34" charset="0"/>
              </a:rPr>
              <a:t>"</a:t>
            </a:r>
          </a:p>
          <a:p>
            <a:r>
              <a:rPr lang="en-US" sz="2400" dirty="0">
                <a:latin typeface="Aptos" panose="020B0004020202020204" pitchFamily="34" charset="0"/>
              </a:rPr>
              <a:t>}</a:t>
            </a:r>
          </a:p>
          <a:p>
            <a:pPr algn="l"/>
            <a:endParaRPr lang="en-US" dirty="0"/>
          </a:p>
        </p:txBody>
      </p:sp>
      <p:pic>
        <p:nvPicPr>
          <p:cNvPr id="11" name="Picture 10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6F787B0B-9D6F-F86C-31B4-3A1369FE5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130" y="785608"/>
            <a:ext cx="3677045" cy="561109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8D18BCA-B9B4-A7FD-0252-6E3E64EF386D}"/>
              </a:ext>
            </a:extLst>
          </p:cNvPr>
          <p:cNvSpPr txBox="1"/>
          <p:nvPr/>
        </p:nvSpPr>
        <p:spPr>
          <a:xfrm>
            <a:off x="8027386" y="372210"/>
            <a:ext cx="210482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Order.controller.js</a:t>
            </a:r>
          </a:p>
        </p:txBody>
      </p:sp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50F9C401-8895-EA14-8309-5D10FD691E3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935008" y="-2264468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4595D961-EF54-345A-AB55-D5C466E3DF2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834003" y="2620739"/>
            <a:ext cx="45721" cy="68106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03055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684B6D88-C097-C695-2E4E-DB628F784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B31D283-5246-C538-2E4C-031F2FD246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180" y="1602282"/>
            <a:ext cx="4760042" cy="42545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B3DBC2-FC9B-9487-C616-33A7E3C60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4598" y="379986"/>
            <a:ext cx="8545415" cy="636011"/>
          </a:xfrm>
        </p:spPr>
        <p:txBody>
          <a:bodyPr>
            <a:noAutofit/>
          </a:bodyPr>
          <a:lstStyle/>
          <a:p>
            <a:pPr algn="ctr"/>
            <a:r>
              <a:rPr lang="en-US" sz="4800" b="0" dirty="0">
                <a:latin typeface="Aptos" panose="020B0004020202020204" pitchFamily="34" charset="0"/>
                <a:ea typeface="+mj-lt"/>
                <a:cs typeface="+mj-lt"/>
              </a:rPr>
              <a:t>API </a:t>
            </a:r>
            <a:r>
              <a:rPr lang="en-US" sz="4800" b="0" dirty="0" err="1">
                <a:latin typeface="Aptos" panose="020B0004020202020204" pitchFamily="34" charset="0"/>
                <a:ea typeface="+mj-lt"/>
                <a:cs typeface="+mj-lt"/>
              </a:rPr>
              <a:t>működés</a:t>
            </a:r>
            <a:r>
              <a:rPr lang="en-US" sz="4800" b="0" dirty="0">
                <a:latin typeface="Aptos" panose="020B0004020202020204" pitchFamily="34" charset="0"/>
                <a:ea typeface="+mj-lt"/>
                <a:cs typeface="+mj-lt"/>
              </a:rPr>
              <a:t>/postman </a:t>
            </a:r>
            <a:r>
              <a:rPr lang="en-US" sz="4800" b="0" dirty="0" err="1">
                <a:latin typeface="Aptos" panose="020B0004020202020204" pitchFamily="34" charset="0"/>
                <a:ea typeface="+mj-lt"/>
                <a:cs typeface="+mj-lt"/>
              </a:rPr>
              <a:t>tesztek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306D9-CEA5-7FB0-1BDA-38CF8F2E7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180" y="1876438"/>
            <a:ext cx="4760042" cy="4249286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/auth/login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/cart/add</a:t>
            </a: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GET 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DELETE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/cart/remove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/orders/checkout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9AA32-3858-EDD7-DCA4-3D0DD36CF2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844567" y="118888"/>
            <a:ext cx="1165698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744A3-406C-01F7-7606-DB067A8E3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CDF08F-3A76-D025-217F-03FF2BB3B3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402" y="1509221"/>
            <a:ext cx="5191963" cy="425558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09363E45-1DAA-EFAB-4335-63EF08B4925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4B0932E2-945A-E074-3754-0DE01955C53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9340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742BB70-486A-6F98-40B5-1982C57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C9942430-273C-9A8F-40A1-CFCAEC378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02282"/>
            <a:ext cx="6386323" cy="425454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5068A-3B16-6EBD-6582-C626967E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337" y="26960"/>
            <a:ext cx="10518125" cy="1325563"/>
          </a:xfrm>
        </p:spPr>
        <p:txBody>
          <a:bodyPr>
            <a:normAutofit fontScale="90000"/>
          </a:bodyPr>
          <a:lstStyle/>
          <a:p>
            <a:r>
              <a:rPr lang="hu-HU" dirty="0">
                <a:latin typeface="Aptos" panose="020B0004020202020204" pitchFamily="34" charset="0"/>
              </a:rPr>
              <a:t>  </a:t>
            </a:r>
            <a:r>
              <a:rPr lang="hu-HU" sz="5300" dirty="0">
                <a:latin typeface="Aptos" panose="020B0004020202020204" pitchFamily="34" charset="0"/>
              </a:rPr>
              <a:t>Adatbázis tervezése és működése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D30DB06-33F4-4735-AAE8-C98875DD5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80" y="1616635"/>
            <a:ext cx="6324954" cy="4240196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A </a:t>
            </a:r>
            <a:r>
              <a:rPr lang="en-US" sz="3000" dirty="0" err="1">
                <a:latin typeface="Aptos" panose="020B0004020202020204" pitchFamily="34" charset="0"/>
              </a:rPr>
              <a:t>projektünk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egy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digitális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termékeket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árusító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amely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játékokat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kulcsokat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és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giftcardokat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kezel</a:t>
            </a:r>
            <a:r>
              <a:rPr lang="en-US" sz="3000" dirty="0">
                <a:latin typeface="Aptos" panose="020B0004020202020204" pitchFamily="34" charset="0"/>
              </a:rPr>
              <a:t>. A </a:t>
            </a:r>
            <a:r>
              <a:rPr lang="en-US" sz="3000" dirty="0" err="1">
                <a:latin typeface="Aptos" panose="020B0004020202020204" pitchFamily="34" charset="0"/>
              </a:rPr>
              <a:t>rendszer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egyik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legfontosabb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része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az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adatbázis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amely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minden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felhasználói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termék</a:t>
            </a:r>
            <a:r>
              <a:rPr lang="en-US" sz="3000" dirty="0">
                <a:latin typeface="Aptos" panose="020B0004020202020204" pitchFamily="34" charset="0"/>
              </a:rPr>
              <a:t>- </a:t>
            </a:r>
            <a:r>
              <a:rPr lang="en-US" sz="3000" dirty="0" err="1">
                <a:latin typeface="Aptos" panose="020B0004020202020204" pitchFamily="34" charset="0"/>
              </a:rPr>
              <a:t>és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rendelési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adatot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tárol</a:t>
            </a:r>
            <a:r>
              <a:rPr lang="en-US" sz="3000" dirty="0">
                <a:latin typeface="Aptos" panose="020B0004020202020204" pitchFamily="34" charset="0"/>
              </a:rPr>
              <a:t>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Kép 5" descr="A képen képernyőkép, kör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A6C45D6F-3E8F-ECB2-6243-2A85CAF567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17" y="1780854"/>
            <a:ext cx="3509376" cy="350937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CA4B60E9-CABD-4883-BF33-DCB93425324F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1592E8B9-6F0D-2D33-AC60-902EBCD5568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5CFF89D-6A84-D64D-62C0-3B61E50E2B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329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6E552-F455-68DF-D4F9-98F82AE37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7C5DB142-E73E-E299-E2F2-027211FD65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F1F733BD-8F6C-65CB-D482-37688FC64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48002"/>
            <a:ext cx="5692853" cy="30099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1EE6803-4D57-D1C8-21FA-0F10A1D48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686" y="0"/>
            <a:ext cx="6765552" cy="1325563"/>
          </a:xfrm>
        </p:spPr>
        <p:txBody>
          <a:bodyPr>
            <a:normAutofit fontScale="90000"/>
          </a:bodyPr>
          <a:lstStyle/>
          <a:p>
            <a:r>
              <a:rPr lang="hu-HU" dirty="0"/>
              <a:t>  </a:t>
            </a:r>
            <a:r>
              <a:rPr lang="hu-HU" sz="5300" dirty="0">
                <a:latin typeface="Aptos" panose="020B0004020202020204" pitchFamily="34" charset="0"/>
              </a:rPr>
              <a:t>Adatbázis</a:t>
            </a:r>
            <a:r>
              <a:rPr lang="hu-HU" sz="4800" dirty="0">
                <a:latin typeface="Aptos" panose="020B0004020202020204" pitchFamily="34" charset="0"/>
              </a:rPr>
              <a:t> technológiája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5F2836B-4758-1D4C-6205-DA8297062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79" y="1648002"/>
            <a:ext cx="5600800" cy="4254549"/>
          </a:xfrm>
        </p:spPr>
        <p:txBody>
          <a:bodyPr/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sz="3000" dirty="0">
                <a:latin typeface="Aptos" panose="020B0004020202020204" pitchFamily="34" charset="0"/>
              </a:rPr>
              <a:t>– MySQL </a:t>
            </a:r>
            <a:r>
              <a:rPr lang="en-US" sz="3000" dirty="0" err="1">
                <a:latin typeface="Aptos" panose="020B0004020202020204" pitchFamily="34" charset="0"/>
              </a:rPr>
              <a:t>adatbázis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XAMPP </a:t>
            </a:r>
            <a:r>
              <a:rPr lang="en-US" sz="3000" dirty="0" err="1">
                <a:latin typeface="Aptos" panose="020B0004020202020204" pitchFamily="34" charset="0"/>
              </a:rPr>
              <a:t>környezet</a:t>
            </a:r>
            <a:endParaRPr lang="en-US" sz="3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phpMyAdmin </a:t>
            </a:r>
            <a:r>
              <a:rPr lang="en-US" sz="3000" dirty="0" err="1">
                <a:latin typeface="Aptos" panose="020B0004020202020204" pitchFamily="34" charset="0"/>
              </a:rPr>
              <a:t>kezelőfelület</a:t>
            </a:r>
            <a:endParaRPr lang="en-US" sz="3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Backend: Node.js + Express + </a:t>
            </a:r>
            <a:r>
              <a:rPr lang="en-US" sz="3000" dirty="0" err="1">
                <a:latin typeface="Aptos" panose="020B0004020202020204" pitchFamily="34" charset="0"/>
              </a:rPr>
              <a:t>Sequelize</a:t>
            </a:r>
            <a:r>
              <a:rPr lang="en-US" sz="3000" dirty="0">
                <a:latin typeface="Aptos" panose="020B0004020202020204" pitchFamily="34" charset="0"/>
              </a:rPr>
              <a:t> ORM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17A0608-47A3-C147-6343-BBD557C1E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8500" y="2883291"/>
            <a:ext cx="3739019" cy="717767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89253F6A-901A-538B-4669-9C50A328F3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456500B9-04BB-825F-05B2-640328465C7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45974BB-863A-F42B-C89A-5F7B08E127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5015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4042-20D0-67F0-65F1-8F17213B8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5D6337F2-17AB-0922-3C43-6867BF788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CC30DF9-6F70-AFE7-D226-9C4487BBE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5285" y="60167"/>
            <a:ext cx="6982629" cy="1325563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Az adatbázis fő táblái</a:t>
            </a:r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E7398E30-B227-42B0-1970-741FAB17D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7" y="2439352"/>
            <a:ext cx="10972800" cy="2543175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8BC2D559-E4B4-4E35-AD70-0036DD467F1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665C661E-354F-19AB-3724-3E7700AFD9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85BDC80-B592-A0F6-E825-34BE0BEEF2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1760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6780F-48FF-AF6D-8FBC-D89FB32E2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44F1DE9-9C91-25BC-C8AC-4FC52CACE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E1207EA-2CD5-D2C2-BAEC-1A6583416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05" y="1457758"/>
            <a:ext cx="5380160" cy="111838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CF798A6-77D3-E4E6-0416-FBA858A60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381" y="62314"/>
            <a:ext cx="3501045" cy="1325563"/>
          </a:xfrm>
        </p:spPr>
        <p:txBody>
          <a:bodyPr>
            <a:normAutofit fontScale="90000"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</a:t>
            </a:r>
            <a:r>
              <a:rPr lang="hu-HU" sz="4800" dirty="0" err="1">
                <a:latin typeface="Aptos" panose="020B0004020202020204" pitchFamily="34" charset="0"/>
              </a:rPr>
              <a:t>Users</a:t>
            </a:r>
            <a:r>
              <a:rPr lang="hu-HU" sz="4800" dirty="0">
                <a:latin typeface="Aptos" panose="020B0004020202020204" pitchFamily="34" charset="0"/>
              </a:rPr>
              <a:t> tábla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1776E0D-83C0-CAA2-1A3D-64F57572A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005" y="1395970"/>
            <a:ext cx="5380167" cy="1120337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A </a:t>
            </a:r>
            <a:r>
              <a:rPr lang="en-US" dirty="0" err="1">
                <a:latin typeface="Aptos" panose="020B0004020202020204" pitchFamily="34" charset="0"/>
              </a:rPr>
              <a:t>felhasználók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adatait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tárolja</a:t>
            </a:r>
            <a:r>
              <a:rPr lang="en-US" dirty="0">
                <a:latin typeface="Aptos" panose="020B0004020202020204" pitchFamily="34" charset="0"/>
              </a:rPr>
              <a:t>: </a:t>
            </a:r>
            <a:endParaRPr lang="hu-HU" dirty="0">
              <a:latin typeface="Aptos" panose="020B0004020202020204" pitchFamily="34" charset="0"/>
            </a:endParaRPr>
          </a:p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email, </a:t>
            </a:r>
            <a:r>
              <a:rPr lang="en-US" dirty="0" err="1">
                <a:latin typeface="Aptos" panose="020B0004020202020204" pitchFamily="34" charset="0"/>
              </a:rPr>
              <a:t>jelszó</a:t>
            </a:r>
            <a:r>
              <a:rPr lang="en-US" dirty="0">
                <a:latin typeface="Aptos" panose="020B0004020202020204" pitchFamily="34" charset="0"/>
              </a:rPr>
              <a:t>, </a:t>
            </a:r>
            <a:r>
              <a:rPr lang="en-US" dirty="0" err="1">
                <a:latin typeface="Aptos" panose="020B0004020202020204" pitchFamily="34" charset="0"/>
              </a:rPr>
              <a:t>név</a:t>
            </a:r>
            <a:r>
              <a:rPr lang="en-US" dirty="0">
                <a:latin typeface="Aptos" panose="020B0004020202020204" pitchFamily="34" charset="0"/>
              </a:rPr>
              <a:t>, </a:t>
            </a:r>
            <a:r>
              <a:rPr lang="en-US" dirty="0" err="1">
                <a:latin typeface="Aptos" panose="020B0004020202020204" pitchFamily="34" charset="0"/>
              </a:rPr>
              <a:t>regisztráció</a:t>
            </a:r>
            <a:r>
              <a:rPr lang="en-US" dirty="0">
                <a:latin typeface="Aptos" panose="020B0004020202020204" pitchFamily="34" charset="0"/>
              </a:rPr>
              <a:t>.</a:t>
            </a:r>
            <a:endParaRPr lang="hu-HU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A699C8B2-633A-4615-1767-9D2AAFCD1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88" y="2789912"/>
            <a:ext cx="10968233" cy="1455628"/>
          </a:xfrm>
          <a:prstGeom prst="rect">
            <a:avLst/>
          </a:prstGeom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1CABCA0D-F271-6440-5AEC-F57435854C0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30ED8FFA-1F7F-45D7-F101-E0C34FC96EC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4D43AE5-A208-9FAA-0D2F-F556704D10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0734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B8EBE-D4FB-A08E-AAD1-05203E29F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791B82C5-1F90-06B2-A205-D9B8D262D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D1F8650-730F-BDB1-0677-FF6A515B3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49" y="1808353"/>
            <a:ext cx="3323481" cy="253524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87FD6C-7983-80CD-F2E8-DFC3F2A37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4655" y="52575"/>
            <a:ext cx="4574529" cy="1325563"/>
          </a:xfrm>
        </p:spPr>
        <p:txBody>
          <a:bodyPr>
            <a:noAutofit/>
          </a:bodyPr>
          <a:lstStyle/>
          <a:p>
            <a:r>
              <a:rPr lang="hu-HU" sz="4800" dirty="0"/>
              <a:t>  </a:t>
            </a:r>
            <a:r>
              <a:rPr lang="hu-HU" sz="4800" dirty="0">
                <a:latin typeface="Aptos" panose="020B0004020202020204" pitchFamily="34" charset="0"/>
              </a:rPr>
              <a:t>Products tábla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F9005AF-D482-AC0D-EE45-2871B6CA9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3213" y="1875860"/>
            <a:ext cx="3359155" cy="2226973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A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összes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termékét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tartalmazza</a:t>
            </a:r>
            <a:r>
              <a:rPr lang="en-US" sz="3000" dirty="0">
                <a:latin typeface="Aptos" panose="020B0004020202020204" pitchFamily="34" charset="0"/>
              </a:rPr>
              <a:t>: </a:t>
            </a:r>
            <a:r>
              <a:rPr lang="en-US" sz="3000" dirty="0" err="1">
                <a:latin typeface="Aptos" panose="020B0004020202020204" pitchFamily="34" charset="0"/>
              </a:rPr>
              <a:t>név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ár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leírás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kategória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kép</a:t>
            </a:r>
            <a:r>
              <a:rPr lang="en-US" sz="3000" dirty="0">
                <a:latin typeface="Aptos" panose="020B0004020202020204" pitchFamily="34" charset="0"/>
              </a:rPr>
              <a:t>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szám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B85400FE-3BE8-10EF-521E-7C702C5419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655" y="1808353"/>
            <a:ext cx="6976776" cy="3768576"/>
          </a:xfrm>
          <a:prstGeom prst="rect">
            <a:avLst/>
          </a:prstGeom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F5DC58D4-FE3A-DF22-438E-814154B42C5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2D8B8861-2C4E-5B99-0903-8B86C02C5C4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62E30A0-B69D-15A4-53A7-8D0C82F365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5525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5BFD0-5417-C59B-E0FD-4FCD9DC2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04A29D8E-B3C5-3050-33D3-97FC7FA6E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65D09F2-BE6A-E8D6-AFEE-51E781A51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71" y="1589932"/>
            <a:ext cx="4871723" cy="106128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F5A7CD72-5383-A096-FB0F-D1286B679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9013" y="51029"/>
            <a:ext cx="8293974" cy="1325563"/>
          </a:xfrm>
        </p:spPr>
        <p:txBody>
          <a:bodyPr>
            <a:normAutofit fontScale="90000"/>
          </a:bodyPr>
          <a:lstStyle/>
          <a:p>
            <a:r>
              <a:rPr lang="hu-HU" dirty="0"/>
              <a:t>  </a:t>
            </a:r>
            <a:r>
              <a:rPr lang="hu-HU" sz="4800" dirty="0">
                <a:latin typeface="Aptos" panose="020B0004020202020204" pitchFamily="34" charset="0"/>
              </a:rPr>
              <a:t>Digitális kulcsok és </a:t>
            </a:r>
            <a:r>
              <a:rPr lang="hu-HU" sz="4800" dirty="0" err="1">
                <a:latin typeface="Aptos" panose="020B0004020202020204" pitchFamily="34" charset="0"/>
              </a:rPr>
              <a:t>giftcardok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1B37C58-82D2-F8CA-7183-FC39149AB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170" y="1589931"/>
            <a:ext cx="4871723" cy="1061281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/>
              <a:t> </a:t>
            </a:r>
            <a:r>
              <a:rPr lang="en-US" sz="3000" dirty="0">
                <a:latin typeface="Aptos" panose="020B0004020202020204" pitchFamily="34" charset="0"/>
              </a:rPr>
              <a:t>– </a:t>
            </a:r>
            <a:r>
              <a:rPr lang="en-US" sz="3000" dirty="0" err="1">
                <a:latin typeface="Aptos" panose="020B0004020202020204" pitchFamily="34" charset="0"/>
              </a:rPr>
              <a:t>gamekeys</a:t>
            </a:r>
            <a:r>
              <a:rPr lang="en-US" sz="3000" dirty="0">
                <a:latin typeface="Aptos" panose="020B0004020202020204" pitchFamily="34" charset="0"/>
              </a:rPr>
              <a:t>: </a:t>
            </a:r>
            <a:r>
              <a:rPr lang="en-US" sz="3000" dirty="0" err="1">
                <a:latin typeface="Aptos" panose="020B0004020202020204" pitchFamily="34" charset="0"/>
              </a:rPr>
              <a:t>játék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kulcsok</a:t>
            </a:r>
            <a:endParaRPr lang="hu-HU" sz="3000" dirty="0" err="1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</a:t>
            </a:r>
            <a:r>
              <a:rPr lang="en-US" sz="3000" dirty="0" err="1">
                <a:latin typeface="Aptos" panose="020B0004020202020204" pitchFamily="34" charset="0"/>
              </a:rPr>
              <a:t>giftcards</a:t>
            </a:r>
            <a:r>
              <a:rPr lang="en-US" sz="3000" dirty="0">
                <a:latin typeface="Aptos" panose="020B0004020202020204" pitchFamily="34" charset="0"/>
              </a:rPr>
              <a:t>: </a:t>
            </a:r>
            <a:r>
              <a:rPr lang="en-US" sz="3000" dirty="0" err="1">
                <a:latin typeface="Aptos" panose="020B0004020202020204" pitchFamily="34" charset="0"/>
              </a:rPr>
              <a:t>ajándékkártyák</a:t>
            </a:r>
            <a:endParaRPr lang="en-US" sz="3000" dirty="0">
              <a:latin typeface="Aptos" panose="020B0004020202020204" pitchFamily="34" charset="0"/>
            </a:endParaRPr>
          </a:p>
          <a:p>
            <a:pPr>
              <a:buNone/>
            </a:pPr>
            <a:endParaRPr lang="en-US" dirty="0"/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FAB15C41-5823-A6C2-382B-DC3A56DEC4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764" y="1566132"/>
            <a:ext cx="4876800" cy="316230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67CD0B1E-7950-676D-40BE-89BC6F949D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717" y="3345284"/>
            <a:ext cx="6590648" cy="2766295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C5A00673-8CA5-FE99-4473-CE235289957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7B95CC3D-EB7C-6148-98C6-415CC9C96D3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859617F-81A7-24CC-D781-CB39C6A172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453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91986-3741-CB2F-10F0-09EE4D091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1E1E900D-7C5E-E363-875D-028FC629B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32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69040A89-75AF-ECEB-5379-11D3E2733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13" y="1604654"/>
            <a:ext cx="5049693" cy="1538281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44DE9F5-38E9-C5BF-4091-D6355CA2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9159" y="61577"/>
            <a:ext cx="6514269" cy="1325563"/>
          </a:xfrm>
        </p:spPr>
        <p:txBody>
          <a:bodyPr>
            <a:normAutofit fontScale="90000"/>
          </a:bodyPr>
          <a:lstStyle/>
          <a:p>
            <a:r>
              <a:rPr lang="hu-HU" dirty="0">
                <a:latin typeface="Aptos" panose="020B0004020202020204" pitchFamily="34" charset="0"/>
              </a:rPr>
              <a:t>  Kosár és </a:t>
            </a:r>
            <a:r>
              <a:rPr lang="hu-HU" sz="4800" dirty="0">
                <a:latin typeface="Aptos" panose="020B0004020202020204" pitchFamily="34" charset="0"/>
              </a:rPr>
              <a:t>rendelés</a:t>
            </a:r>
            <a:r>
              <a:rPr lang="hu-HU" dirty="0">
                <a:latin typeface="Aptos" panose="020B0004020202020204" pitchFamily="34" charset="0"/>
              </a:rPr>
              <a:t> logika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B502A82-5B71-4F1F-E196-34DF9C7CBF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4212" y="1613466"/>
            <a:ext cx="5049694" cy="1538282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cart_items</a:t>
            </a:r>
            <a:r>
              <a:rPr lang="en-US" dirty="0">
                <a:latin typeface="Aptos" panose="020B0004020202020204" pitchFamily="34" charset="0"/>
              </a:rPr>
              <a:t>: </a:t>
            </a:r>
            <a:r>
              <a:rPr lang="en-US" dirty="0" err="1">
                <a:latin typeface="Aptos" panose="020B0004020202020204" pitchFamily="34" charset="0"/>
              </a:rPr>
              <a:t>kosár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tartalma</a:t>
            </a:r>
            <a:endParaRPr lang="hu-HU" dirty="0" err="1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orders: </a:t>
            </a:r>
            <a:r>
              <a:rPr lang="en-US" dirty="0" err="1">
                <a:latin typeface="Aptos" panose="020B0004020202020204" pitchFamily="34" charset="0"/>
              </a:rPr>
              <a:t>rendelések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adatai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orderdetails</a:t>
            </a:r>
            <a:r>
              <a:rPr lang="en-US" dirty="0">
                <a:latin typeface="Aptos" panose="020B0004020202020204" pitchFamily="34" charset="0"/>
              </a:rPr>
              <a:t>: </a:t>
            </a:r>
            <a:r>
              <a:rPr lang="en-US" dirty="0" err="1">
                <a:latin typeface="Aptos" panose="020B0004020202020204" pitchFamily="34" charset="0"/>
              </a:rPr>
              <a:t>rendelés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tételei</a:t>
            </a:r>
            <a:endParaRPr lang="en-US" dirty="0">
              <a:latin typeface="Aptos" panose="020B0004020202020204" pitchFamily="34" charset="0"/>
            </a:endParaRPr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4078507C-C1D1-CBAA-D987-34A58650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425" y="1510887"/>
            <a:ext cx="5501014" cy="209302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197C2066-D588-942A-F5EC-E066A91FE6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670" y="3967163"/>
            <a:ext cx="8545099" cy="2295264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83070265-7F95-A005-DE4A-5FC174AAFF7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2A07BE76-DE18-1BEF-4B58-16BC12F09C7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285570DE-127D-F362-273A-C45F75378A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9725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CC222-14EF-BE13-37E6-EA0743F1B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F22DA5A2-EAA1-913A-AFEA-0A96C27A9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B7B8E09-2C92-6886-0789-43DEDC7D92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2" y="1621491"/>
            <a:ext cx="5089784" cy="41794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59C8CA5-F065-4BE2-21CC-C44EE92B5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4057" y="-24509"/>
            <a:ext cx="4703880" cy="1325563"/>
          </a:xfrm>
        </p:spPr>
        <p:txBody>
          <a:bodyPr/>
          <a:lstStyle/>
          <a:p>
            <a:r>
              <a:rPr lang="hu-HU" dirty="0"/>
              <a:t>  </a:t>
            </a:r>
            <a:r>
              <a:rPr lang="hu-HU" dirty="0">
                <a:latin typeface="Aptos" panose="020B0004020202020204" pitchFamily="34" charset="0"/>
              </a:rPr>
              <a:t>Szállítási </a:t>
            </a:r>
            <a:r>
              <a:rPr lang="hu-HU" sz="4800" dirty="0">
                <a:latin typeface="Aptos" panose="020B0004020202020204" pitchFamily="34" charset="0"/>
              </a:rPr>
              <a:t>adatok</a:t>
            </a:r>
            <a:r>
              <a:rPr lang="hu-HU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AD8580E-ECE8-8DE1-BA57-45347451C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914" y="1578536"/>
            <a:ext cx="5275546" cy="4101295"/>
          </a:xfrm>
        </p:spPr>
        <p:txBody>
          <a:bodyPr>
            <a:normAutofit fontScale="92500" lnSpcReduction="10000"/>
          </a:bodyPr>
          <a:lstStyle/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Az orders </a:t>
            </a:r>
            <a:r>
              <a:rPr lang="en-US" dirty="0" err="1">
                <a:latin typeface="Aptos" panose="020B0004020202020204" pitchFamily="34" charset="0"/>
              </a:rPr>
              <a:t>táblában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találhatóak</a:t>
            </a:r>
            <a:r>
              <a:rPr lang="en-US" dirty="0">
                <a:latin typeface="Aptos" panose="020B0004020202020204" pitchFamily="34" charset="0"/>
              </a:rPr>
              <a:t>: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first_name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last_name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email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phone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zip_code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city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address_line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additional_info</a:t>
            </a:r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A127FF57-DF48-EB9B-D909-D414702200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416" y="2357421"/>
            <a:ext cx="8665557" cy="302465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E9FF93B5-79A3-CB7C-4C3C-DF46E2A89B8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C2434571-05C2-477C-D2D7-4B6C5AA0940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8C4A14B-B553-006A-5018-E13CE755DF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0790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EF0D-EE2B-1AB2-09F0-707619413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50CE8C4B-D505-73E8-6EFD-5581DF586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74CBB34-FBBF-8F90-9E9F-C4EF4B00B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172" y="33626"/>
            <a:ext cx="8189647" cy="1325563"/>
          </a:xfrm>
        </p:spPr>
        <p:txBody>
          <a:bodyPr>
            <a:normAutofit fontScale="90000"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Kapcsolatok az adatbázisban</a:t>
            </a:r>
          </a:p>
        </p:txBody>
      </p:sp>
      <p:pic>
        <p:nvPicPr>
          <p:cNvPr id="5" name="Kép 4" descr="A képen szöveg, képernyőkép, Betűtípus, diagram látható&#10;&#10;Lehet, hogy az AI által létrehozott tartalom helytelen.">
            <a:extLst>
              <a:ext uri="{FF2B5EF4-FFF2-40B4-BE49-F238E27FC236}">
                <a16:creationId xmlns:a16="http://schemas.microsoft.com/office/drawing/2014/main" id="{FF45638A-33FC-B812-A640-F45F8144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121" y="1359189"/>
            <a:ext cx="9795747" cy="4819369"/>
          </a:xfrm>
          <a:prstGeom prst="rect">
            <a:avLst/>
          </a:prstGeom>
        </p:spPr>
      </p:pic>
      <p:pic>
        <p:nvPicPr>
          <p:cNvPr id="3" name="Google Shape;114;p3">
            <a:extLst>
              <a:ext uri="{FF2B5EF4-FFF2-40B4-BE49-F238E27FC236}">
                <a16:creationId xmlns:a16="http://schemas.microsoft.com/office/drawing/2014/main" id="{DE87372D-D2C5-AAF6-35A1-3C05B24427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7D72D89A-3EFF-DD1C-FEB1-197BF7EBDE7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B94EA0E-C4E5-C809-9DB5-C7D52D8661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9981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A5718577-C218-7219-50FB-FC5FBD55C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90" y="1338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95BC1557-A4AE-97B0-70EB-FE98C04FC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72" y="1611312"/>
            <a:ext cx="7366905" cy="4301687"/>
          </a:xfrm>
          <a:prstGeom prst="rect">
            <a:avLst/>
          </a:prstGeom>
        </p:spPr>
      </p:pic>
      <p:sp>
        <p:nvSpPr>
          <p:cNvPr id="12" name="Szöveg helye 11"/>
          <p:cNvSpPr>
            <a:spLocks noGrp="1"/>
          </p:cNvSpPr>
          <p:nvPr>
            <p:ph type="body" idx="1"/>
          </p:nvPr>
        </p:nvSpPr>
        <p:spPr>
          <a:xfrm>
            <a:off x="709273" y="1608616"/>
            <a:ext cx="7366904" cy="4301687"/>
          </a:xfrm>
        </p:spPr>
        <p:txBody>
          <a:bodyPr>
            <a:normAutofit/>
          </a:bodyPr>
          <a:lstStyle/>
          <a:p>
            <a:r>
              <a:rPr lang="hu-HU" sz="3000" dirty="0">
                <a:latin typeface="Aptos" panose="020B0004020202020204" pitchFamily="34" charset="0"/>
              </a:rPr>
              <a:t>Valódi fizetési rendszer</a:t>
            </a:r>
          </a:p>
          <a:p>
            <a:endParaRPr lang="hu-HU" sz="3000" dirty="0">
              <a:latin typeface="Aptos" panose="020B0004020202020204" pitchFamily="34" charset="0"/>
            </a:endParaRPr>
          </a:p>
          <a:p>
            <a:r>
              <a:rPr lang="hu-HU" sz="3000" dirty="0">
                <a:latin typeface="Aptos" panose="020B0004020202020204" pitchFamily="34" charset="0"/>
              </a:rPr>
              <a:t>Email küldés (számla, kulcs, rendelés)</a:t>
            </a:r>
          </a:p>
          <a:p>
            <a:endParaRPr lang="hu-HU" sz="3000" dirty="0">
              <a:latin typeface="Aptos" panose="020B0004020202020204" pitchFamily="34" charset="0"/>
            </a:endParaRPr>
          </a:p>
          <a:p>
            <a:r>
              <a:rPr lang="hu-HU" sz="3000" dirty="0">
                <a:latin typeface="Aptos" panose="020B0004020202020204" pitchFamily="34" charset="0"/>
              </a:rPr>
              <a:t>Termékvideók a termékoldalon</a:t>
            </a:r>
          </a:p>
          <a:p>
            <a:endParaRPr lang="hu-HU" sz="3000" dirty="0">
              <a:latin typeface="Aptos" panose="020B0004020202020204" pitchFamily="34" charset="0"/>
            </a:endParaRPr>
          </a:p>
          <a:p>
            <a:r>
              <a:rPr lang="hu-HU" sz="3000" dirty="0">
                <a:latin typeface="Aptos" panose="020B0004020202020204" pitchFamily="34" charset="0"/>
              </a:rPr>
              <a:t>Kuponkód rendszer</a:t>
            </a:r>
          </a:p>
        </p:txBody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706719" y="127602"/>
            <a:ext cx="5358150" cy="878360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Tovább fejlesztés</a:t>
            </a: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BC6FF8FA-E7DB-56B5-88F0-AA3E3D5ACA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4252" y="2664080"/>
            <a:ext cx="1546052" cy="144555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D4F1124D-0F6A-6614-3924-1252AF3381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0304" y="1803183"/>
            <a:ext cx="1434829" cy="86089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7B88AD15-4C02-2E31-6C26-A068EB201A7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7855" y="4411519"/>
            <a:ext cx="1996841" cy="1498784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2F7241AC-229F-0BE3-0261-6D19C54F10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4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8ACAF97D-22E2-B68B-C054-FEF1328E18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F193742-FB31-D2E9-1C5E-C3A95A4B8A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153151"/>
            <a:ext cx="7606602" cy="1325563"/>
          </a:xfrm>
          <a:prstGeom prst="rect">
            <a:avLst/>
          </a:prstGeom>
        </p:spPr>
      </p:pic>
      <p:sp>
        <p:nvSpPr>
          <p:cNvPr id="350" name="Google Shape;350;p32"/>
          <p:cNvSpPr txBox="1">
            <a:spLocks noGrp="1"/>
          </p:cNvSpPr>
          <p:nvPr>
            <p:ph type="title"/>
          </p:nvPr>
        </p:nvSpPr>
        <p:spPr>
          <a:xfrm>
            <a:off x="381002" y="4153152"/>
            <a:ext cx="634745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Köszönjük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 a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figyelmet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!</a:t>
            </a:r>
            <a:endParaRPr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B440C9A-FDD1-99CE-8DBC-F77952BD96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D52828B9-C42D-2869-C21F-E440C040B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ACE066F9-54B2-3048-BE27-67B114A61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3558" y="4940691"/>
            <a:ext cx="7093774" cy="1079620"/>
          </a:xfrm>
          <a:prstGeom prst="rect">
            <a:avLst/>
          </a:prstGeom>
        </p:spPr>
      </p:pic>
      <p:sp>
        <p:nvSpPr>
          <p:cNvPr id="92" name="Google Shape;92;p1"/>
          <p:cNvSpPr txBox="1">
            <a:spLocks noGrp="1"/>
          </p:cNvSpPr>
          <p:nvPr>
            <p:ph type="subTitle" idx="4294967295"/>
          </p:nvPr>
        </p:nvSpPr>
        <p:spPr>
          <a:xfrm>
            <a:off x="2854824" y="5042350"/>
            <a:ext cx="6482342" cy="876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buNone/>
            </a:pPr>
            <a:r>
              <a:rPr lang="en-US" sz="3000" dirty="0">
                <a:latin typeface="Aptos" panose="020B0004020202020204" pitchFamily="34" charset="0"/>
              </a:rPr>
              <a:t>By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: </a:t>
            </a:r>
            <a:r>
              <a:rPr lang="en-US" sz="3000" dirty="0">
                <a:latin typeface="Aptos" panose="020B0004020202020204" pitchFamily="34" charset="0"/>
              </a:rPr>
              <a:t>Hunor  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Bakk, Simon</a:t>
            </a:r>
            <a:r>
              <a:rPr lang="en-US" sz="3000" dirty="0">
                <a:latin typeface="Aptos" panose="020B0004020202020204" pitchFamily="34" charset="0"/>
              </a:rPr>
              <a:t> Pásztor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, Marcell</a:t>
            </a:r>
            <a:r>
              <a:rPr lang="en-US" sz="3000" dirty="0">
                <a:latin typeface="Aptos" panose="020B0004020202020204" pitchFamily="34" charset="0"/>
              </a:rPr>
              <a:t> Halász</a:t>
            </a:r>
            <a:endParaRPr sz="3000" dirty="0">
              <a:latin typeface="Aptos" panose="020B0004020202020204" pitchFamily="34" charset="0"/>
            </a:endParaRPr>
          </a:p>
        </p:txBody>
      </p:sp>
      <p:pic>
        <p:nvPicPr>
          <p:cNvPr id="94" name="Google Shape;94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6073136" y="-407994"/>
            <a:ext cx="45719" cy="9290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348DFA5-ADE5-1477-108F-A4203D95C4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624E055D-96F6-5DA5-EF13-D8213B306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0B049447-A37E-D241-CAB5-0F8797792F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6EA39EBE-1901-997B-4DDE-59280493BE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0" y="1415444"/>
            <a:ext cx="7072333" cy="4853718"/>
          </a:xfrm>
          <a:prstGeom prst="rect">
            <a:avLst/>
          </a:prstGeom>
        </p:spPr>
      </p:pic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5719908B-97BA-A30F-6388-9659E37361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16936" y="256015"/>
            <a:ext cx="5374309" cy="84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chemeClr val="lt1"/>
              </a:buClr>
              <a:buSzPts val="4400"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Project members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parajita" panose="020B0502040204020203" pitchFamily="18" charset="0"/>
              <a:sym typeface="Arial"/>
            </a:endParaRPr>
          </a:p>
        </p:txBody>
      </p:sp>
      <p:sp>
        <p:nvSpPr>
          <p:cNvPr id="113" name="Google Shape;113;p3">
            <a:extLst>
              <a:ext uri="{FF2B5EF4-FFF2-40B4-BE49-F238E27FC236}">
                <a16:creationId xmlns:a16="http://schemas.microsoft.com/office/drawing/2014/main" id="{80B6CD03-053C-6481-A05F-58A8D8FBD0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27291" y="1420489"/>
            <a:ext cx="7072332" cy="4848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Project Manager</a:t>
            </a:r>
            <a:r>
              <a:rPr lang="hu-HU" dirty="0">
                <a:latin typeface="Aptos" panose="020B0004020202020204" pitchFamily="34" charset="0"/>
              </a:rPr>
              <a:t> </a:t>
            </a:r>
            <a:r>
              <a:rPr lang="en-US" dirty="0">
                <a:latin typeface="Aptos" panose="020B0004020202020204" pitchFamily="34" charset="0"/>
              </a:rPr>
              <a:t> Frontend – Hunor Bakk</a:t>
            </a:r>
          </a:p>
          <a:p>
            <a:pPr marL="0" lvl="0" indent="0">
              <a:lnSpc>
                <a:spcPct val="100000"/>
              </a:lnSpc>
              <a:buClr>
                <a:schemeClr val="dk1"/>
              </a:buClr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Angular user interface</a:t>
            </a: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Backend – Simon Pásztor</a:t>
            </a:r>
          </a:p>
          <a:p>
            <a:pPr marL="0" lvl="0" indent="0">
              <a:lnSpc>
                <a:spcPct val="100000"/>
              </a:lnSpc>
              <a:buClr>
                <a:schemeClr val="dk1"/>
              </a:buClr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REST API development</a:t>
            </a: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Database – Marcell Halász</a:t>
            </a:r>
          </a:p>
          <a:p>
            <a:pPr marL="0" lvl="0" indent="0">
              <a:lnSpc>
                <a:spcPct val="100000"/>
              </a:lnSpc>
              <a:buClr>
                <a:schemeClr val="dk1"/>
              </a:buClr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Database design</a:t>
            </a:r>
            <a:endParaRPr lang="en-US" dirty="0"/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FFB6B072-56C2-3913-FC77-621179BAD8A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3" y="3236409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B24E1F6F-553A-57C7-47FF-F7B4BACC438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CAED3524-73DB-0282-6254-D2D7E19FC0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3488" y="2657282"/>
            <a:ext cx="2813055" cy="206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7331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>
          <a:extLst>
            <a:ext uri="{FF2B5EF4-FFF2-40B4-BE49-F238E27FC236}">
              <a16:creationId xmlns:a16="http://schemas.microsoft.com/office/drawing/2014/main" id="{C73B8141-380A-B413-2F8D-934CE639C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82711173-4489-BBD3-D3A2-D9D00E615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865879A9-4F8C-05CE-0464-EAAE5EF70F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1" y="1628209"/>
            <a:ext cx="7335161" cy="4301687"/>
          </a:xfrm>
          <a:prstGeom prst="rect">
            <a:avLst/>
          </a:prstGeom>
        </p:spPr>
      </p:pic>
      <p:sp>
        <p:nvSpPr>
          <p:cNvPr id="101" name="Google Shape;101;p2">
            <a:extLst>
              <a:ext uri="{FF2B5EF4-FFF2-40B4-BE49-F238E27FC236}">
                <a16:creationId xmlns:a16="http://schemas.microsoft.com/office/drawing/2014/main" id="{FF41529E-15BA-6CB6-5FA6-FDD8B60840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75297" y="284932"/>
            <a:ext cx="3577434" cy="794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Project topic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>
            <a:extLst>
              <a:ext uri="{FF2B5EF4-FFF2-40B4-BE49-F238E27FC236}">
                <a16:creationId xmlns:a16="http://schemas.microsoft.com/office/drawing/2014/main" id="{908D546C-A403-F1B4-5B59-06D82E5940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27291" y="1628209"/>
            <a:ext cx="7256220" cy="430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The main goal of our project is to create an online store where customers can purchase hardware, keys, or gift cards as they wish.</a:t>
            </a: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Digital products (keys, gift cards) – no account required</a:t>
            </a: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Hardware purchases – account required</a:t>
            </a: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BE2975F6-F5EB-5888-1E35-29D4FA890AC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A5442648-7C5D-A21C-B6E6-B21AA3A10BF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C575661E-49AC-A347-9662-DA163F880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875A66-AEB0-B6F7-C4DE-E9D4C4C70E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2400" y="1682160"/>
            <a:ext cx="1159971" cy="162975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4BB16A5-C840-659E-B9DE-91FF5C259D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24260" y="2860522"/>
            <a:ext cx="1666758" cy="16892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25A28F0E-95C1-72B8-1F0B-871F1AE4B62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4634" y="4289346"/>
            <a:ext cx="1350231" cy="189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4657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742BB70-486A-6F98-40B5-1982C57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88494D59-CFAE-B2AD-ED24-5F0596D4C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443" y="1489811"/>
            <a:ext cx="9404073" cy="4660004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5068A-3B16-6EBD-6582-C626967E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6133" y="348859"/>
            <a:ext cx="4278251" cy="595626"/>
          </a:xfrm>
        </p:spPr>
        <p:txBody>
          <a:bodyPr>
            <a:noAutofit/>
          </a:bodyPr>
          <a:lstStyle/>
          <a:p>
            <a:r>
              <a:rPr lang="hu-HU" sz="4800" dirty="0" err="1">
                <a:solidFill>
                  <a:schemeClr val="tx1"/>
                </a:solidFill>
                <a:latin typeface="Aptos" panose="020B0004020202020204" pitchFamily="34" charset="0"/>
              </a:rPr>
              <a:t>What</a:t>
            </a:r>
            <a:r>
              <a:rPr lang="hu-HU" sz="4800" dirty="0">
                <a:solidFill>
                  <a:schemeClr val="tx1"/>
                </a:solidFill>
                <a:latin typeface="Aptos" panose="020B0004020202020204" pitchFamily="34" charset="0"/>
              </a:rPr>
              <a:t> I </a:t>
            </a:r>
            <a:r>
              <a:rPr lang="hu-HU" sz="4800" dirty="0" err="1">
                <a:solidFill>
                  <a:schemeClr val="tx1"/>
                </a:solidFill>
                <a:latin typeface="Aptos" panose="020B0004020202020204" pitchFamily="34" charset="0"/>
              </a:rPr>
              <a:t>used</a:t>
            </a:r>
            <a:endParaRPr lang="en-US" sz="48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D30DB06-33F4-4735-AAE8-C98875DD5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93962" y="1489811"/>
            <a:ext cx="4709659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Front-end technologies: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Angular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 err="1">
                <a:latin typeface="Aptos" panose="020B0004020202020204" pitchFamily="34" charset="0"/>
              </a:rPr>
              <a:t>TypeScript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HTML5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CSS3 design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8EBDAF6-550A-24FB-685A-2A7A51DAC2B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32360" y="1482215"/>
            <a:ext cx="4671554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Other programs</a:t>
            </a:r>
            <a:r>
              <a:rPr lang="hu-HU" sz="3000" b="1" dirty="0">
                <a:latin typeface="Aptos" panose="020B0004020202020204" pitchFamily="34" charset="0"/>
              </a:rPr>
              <a:t>:</a:t>
            </a:r>
            <a:endParaRPr lang="en-US" sz="3000" b="1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Visual Studio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Google Chrome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Chrome </a:t>
            </a:r>
            <a:r>
              <a:rPr lang="en-US" sz="3000" dirty="0" err="1">
                <a:latin typeface="Aptos" panose="020B0004020202020204" pitchFamily="34" charset="0"/>
              </a:rPr>
              <a:t>DevTools</a:t>
            </a:r>
            <a:r>
              <a:rPr lang="hu-HU" sz="3000" dirty="0">
                <a:latin typeface="Aptos" panose="020B0004020202020204" pitchFamily="34" charset="0"/>
              </a:rPr>
              <a:t> </a:t>
            </a: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 err="1">
                <a:latin typeface="Aptos" panose="020B0004020202020204" pitchFamily="34" charset="0"/>
              </a:rPr>
              <a:t>Git</a:t>
            </a:r>
            <a:r>
              <a:rPr lang="hu-HU" sz="3000" dirty="0" err="1">
                <a:latin typeface="Aptos" panose="020B0004020202020204" pitchFamily="34" charset="0"/>
              </a:rPr>
              <a:t>hub</a:t>
            </a:r>
            <a:endParaRPr lang="en-US" sz="3000" dirty="0"/>
          </a:p>
        </p:txBody>
      </p:sp>
      <p:pic>
        <p:nvPicPr>
          <p:cNvPr id="9" name="Ábra 8">
            <a:extLst>
              <a:ext uri="{FF2B5EF4-FFF2-40B4-BE49-F238E27FC236}">
                <a16:creationId xmlns:a16="http://schemas.microsoft.com/office/drawing/2014/main" id="{27487EA8-8D76-F56B-94C9-F35F9F203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93557" y="2102549"/>
            <a:ext cx="1298443" cy="1326451"/>
          </a:xfrm>
          <a:prstGeom prst="rect">
            <a:avLst/>
          </a:prstGeom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703318A-4631-F240-D8C5-26B7EB8B19A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73138" y="1556771"/>
            <a:ext cx="45719" cy="452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959" y="3871813"/>
            <a:ext cx="1220199" cy="1220199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4" y="2102549"/>
            <a:ext cx="1387483" cy="1387483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47E4DBAB-EE3E-A6FA-B09A-5ED3773221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069" y="3871813"/>
            <a:ext cx="983445" cy="138911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88FA4D7-1F2F-AB58-8F11-4CDBE9A4B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35FA097B-D07A-1487-20E0-121DAD46BD6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103619" y="3199597"/>
            <a:ext cx="45719" cy="660862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34382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F55DC-9E4F-5D5C-54F4-53237EF16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DCFB1D68-F45C-0196-A143-3491D11DA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Cím 7">
            <a:extLst>
              <a:ext uri="{FF2B5EF4-FFF2-40B4-BE49-F238E27FC236}">
                <a16:creationId xmlns:a16="http://schemas.microsoft.com/office/drawing/2014/main" id="{72BCFA28-CFA8-7B0A-3490-D9228FC33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8541" y="355369"/>
            <a:ext cx="5751770" cy="653022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Home + </a:t>
            </a:r>
            <a:r>
              <a:rPr lang="hu-HU" sz="4800" dirty="0" err="1">
                <a:latin typeface="Aptos" panose="020B0004020202020204" pitchFamily="34" charset="0"/>
              </a:rPr>
              <a:t>Features</a:t>
            </a:r>
            <a:endParaRPr lang="en-US" sz="4800" dirty="0">
              <a:latin typeface="Aptos" panose="020B0004020202020204" pitchFamily="34" charset="0"/>
            </a:endParaRPr>
          </a:p>
        </p:txBody>
      </p:sp>
      <p:pic>
        <p:nvPicPr>
          <p:cNvPr id="4" name="Google Shape;114;p3">
            <a:extLst>
              <a:ext uri="{FF2B5EF4-FFF2-40B4-BE49-F238E27FC236}">
                <a16:creationId xmlns:a16="http://schemas.microsoft.com/office/drawing/2014/main" id="{E3BBA1EC-9E54-DED5-C1CB-5DB87230C2A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B455FAF6-FE4C-C6FD-040F-A5A00CA4983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41" y="3175461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92E8C88-0ADC-5602-EC6D-17D97566D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B5D1DD73-2C86-5426-9FA3-A182D62AB8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251" y="1457514"/>
            <a:ext cx="5787061" cy="4644647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CE07A35D-2AF2-3ED3-1363-FD1736CFF6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9688" y="1442947"/>
            <a:ext cx="5787061" cy="46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3212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19">
            <a:extLst>
              <a:ext uri="{FF2B5EF4-FFF2-40B4-BE49-F238E27FC236}">
                <a16:creationId xmlns:a16="http://schemas.microsoft.com/office/drawing/2014/main" id="{0916FD2A-7D57-CCEA-D713-4200095B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Cím 9">
            <a:extLst>
              <a:ext uri="{FF2B5EF4-FFF2-40B4-BE49-F238E27FC236}">
                <a16:creationId xmlns:a16="http://schemas.microsoft.com/office/drawing/2014/main" id="{ECB54ACE-1D2C-901B-8874-09093ED7B3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79715" y="177678"/>
            <a:ext cx="5023608" cy="701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dirty="0" err="1">
                <a:latin typeface="Aptos" panose="020B0004020202020204" pitchFamily="34" charset="0"/>
              </a:rPr>
              <a:t>Cart</a:t>
            </a:r>
            <a:r>
              <a:rPr lang="hu-HU" dirty="0">
                <a:latin typeface="Aptos" panose="020B0004020202020204" pitchFamily="34" charset="0"/>
              </a:rPr>
              <a:t> + </a:t>
            </a:r>
            <a:r>
              <a:rPr lang="hu-HU" dirty="0" err="1">
                <a:latin typeface="Aptos" panose="020B0004020202020204" pitchFamily="34" charset="0"/>
              </a:rPr>
              <a:t>Checkout</a:t>
            </a:r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559FC6A-CE66-A596-1D5C-6FACC32EC0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9007"/>
          <a:stretch/>
        </p:blipFill>
        <p:spPr>
          <a:xfrm>
            <a:off x="9259144" y="1429864"/>
            <a:ext cx="2455017" cy="476311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FE4D64E-9FEB-2379-6952-8DA1E0046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42" y="1429864"/>
            <a:ext cx="8241263" cy="4763118"/>
          </a:xfrm>
          <a:prstGeom prst="rect">
            <a:avLst/>
          </a:prstGeom>
        </p:spPr>
      </p:pic>
      <p:pic>
        <p:nvPicPr>
          <p:cNvPr id="22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02C517E2-D158-8037-10BF-66AB114D11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70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D282-CFEE-C5DA-5393-11B15311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090FBA4A-F839-E3D3-5155-9C5D2D807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D939ECBC-9B65-AAD7-DA30-9E05D4E6D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51" y="1525221"/>
            <a:ext cx="4757767" cy="13503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3AD26FD-0C11-6164-F75B-CBB83DC62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3832" y="189252"/>
            <a:ext cx="5166545" cy="782319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Pop-</a:t>
            </a:r>
            <a:r>
              <a:rPr lang="hu-HU" sz="4800" dirty="0" err="1">
                <a:latin typeface="Aptos" panose="020B0004020202020204" pitchFamily="34" charset="0"/>
              </a:rPr>
              <a:t>up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windows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382224CD-65E0-D0FB-DDB0-14BCFB30A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1150" y="1520567"/>
            <a:ext cx="4757767" cy="135031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We use modal windows on this website.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4ECBAA5-C0F8-AFFC-B39D-48AF17A181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1240" y="1442947"/>
            <a:ext cx="4955196" cy="19058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8724F32-AC36-4F7A-C1ED-5D6A2AB10A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21" y="3297993"/>
            <a:ext cx="4826233" cy="239227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3CCE3A8-FF85-68F9-B697-208D29E807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7" y="4090079"/>
            <a:ext cx="5427697" cy="2080617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B8E47170-341C-3F1A-C736-8634FAD358BA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6B1F4281-C0F4-E666-8887-3B6ACE085ADC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B7262A85-7AB2-1AFE-CF14-1FBF5E0252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96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0CCC-C8AF-1C6D-E330-F4CAB037B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AC93EA9F-3618-DCF6-E294-43F57742C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" y="2951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40CB664-EE80-9CD5-EC72-015544845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8953" y="1609080"/>
            <a:ext cx="9306390" cy="43016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52186F1-CEC8-7EE2-2330-DCF9C7352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0795" y="427306"/>
            <a:ext cx="3520690" cy="549420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Backend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D0785-C307-1DEE-BC19-0C17BD2332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6657" y="1609080"/>
            <a:ext cx="9306390" cy="1819919"/>
          </a:xfrm>
        </p:spPr>
        <p:txBody>
          <a:bodyPr vert="horz" lIns="0" tIns="0" rIns="0" bIns="0" rtlCol="0" anchor="t">
            <a:normAutofit lnSpcReduction="10000"/>
          </a:bodyPr>
          <a:lstStyle/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The backend part of the project is based on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Node.js and uses the Express framework.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This is a REST API that will provide data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management endpoints for the frontend.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658FF8-0F6C-5F83-F8BC-671DD8EBACE3}"/>
              </a:ext>
            </a:extLst>
          </p:cNvPr>
          <p:cNvSpPr txBox="1"/>
          <p:nvPr/>
        </p:nvSpPr>
        <p:spPr>
          <a:xfrm>
            <a:off x="1448953" y="3421329"/>
            <a:ext cx="9294094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Backend tasks: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User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Shopping cart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Order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Stock control and reduction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Permission management</a:t>
            </a:r>
            <a:endParaRPr lang="en-US" sz="2400" dirty="0"/>
          </a:p>
        </p:txBody>
      </p:sp>
      <p:pic>
        <p:nvPicPr>
          <p:cNvPr id="5" name="Picture 4" descr="Node.js - Wikipedia">
            <a:extLst>
              <a:ext uri="{FF2B5EF4-FFF2-40B4-BE49-F238E27FC236}">
                <a16:creationId xmlns:a16="http://schemas.microsoft.com/office/drawing/2014/main" id="{813F76B6-64CF-1372-CA37-D165CDC71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0116" y="3047493"/>
            <a:ext cx="3800142" cy="2520347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DD68D27-12BB-616F-F7C6-6E4C1558146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AD33DCE4-4274-8B47-5C39-FEEB6704B76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EF90AA14-2D82-2B99-A4ED-C18B800D79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577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7468C-E4C2-436E-4154-1BF5C8CE9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BD907E97-AB01-87A2-D8CF-2B87255D8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6BC54E5-0797-2BB1-09ED-F12503B996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85565E-6DC2-B272-8AEE-246B68EF3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4375" y="448206"/>
            <a:ext cx="4670186" cy="495208"/>
          </a:xfrm>
        </p:spPr>
        <p:txBody>
          <a:bodyPr>
            <a:noAutofit/>
          </a:bodyPr>
          <a:lstStyle/>
          <a:p>
            <a:r>
              <a:rPr lang="hu-HU" sz="4800" dirty="0" err="1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Folder</a:t>
            </a:r>
            <a:r>
              <a:rPr lang="hu-HU" sz="4800" dirty="0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structure</a:t>
            </a:r>
            <a:endParaRPr lang="en-US" sz="4800" b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2EEEA-9861-8554-FC4A-128A84D1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799" y="-7629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F05A5B-A166-679B-0D9D-436F4924F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06DEBA-EE42-09AB-54E3-4101A6C9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8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6380CC-7E6B-6D84-1D9E-578A7643EF2E}"/>
              </a:ext>
            </a:extLst>
          </p:cNvPr>
          <p:cNvSpPr txBox="1"/>
          <p:nvPr/>
        </p:nvSpPr>
        <p:spPr>
          <a:xfrm>
            <a:off x="460199" y="1205602"/>
            <a:ext cx="6018534" cy="56323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backend/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src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/ </a:t>
            </a:r>
            <a:endParaRPr lang="en-US" sz="2000" b="1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config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Setting up database connection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controllers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Business logic management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Transactions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Stock checking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Authorization checking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models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Defining database structure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Managing ORM connection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Querying and saving data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routes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Defining HTTP endpoints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1767B5-B6B9-4A4C-7B48-352981658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007" y="1452881"/>
            <a:ext cx="3466332" cy="47737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B99A41D2-27DE-2ABC-5DCF-958D16C1CB5A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14;p3">
            <a:extLst>
              <a:ext uri="{FF2B5EF4-FFF2-40B4-BE49-F238E27FC236}">
                <a16:creationId xmlns:a16="http://schemas.microsoft.com/office/drawing/2014/main" id="{80BDEF67-3D0A-FD3C-B171-50A18A1E98D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1A6B195A-22AA-7B2B-F32A-86AE16C129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9857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CC398-CFE4-E5EB-56AA-3A3887211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76B3F72D-1358-9E64-757D-AC742AFB1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2"/>
            <a:ext cx="6018535" cy="536343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8906EBE-A1BD-ABEE-7D53-0F2281EE4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20242EF8-7032-DB83-D728-6000CB02C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BC48FD-EABE-081E-ABB5-499C4A068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0544" y="507865"/>
            <a:ext cx="4490916" cy="532102"/>
          </a:xfrm>
        </p:spPr>
        <p:txBody>
          <a:bodyPr>
            <a:noAutofit/>
          </a:bodyPr>
          <a:lstStyle/>
          <a:p>
            <a:r>
              <a:rPr lang="en-US" sz="4800" b="0" dirty="0" err="1">
                <a:latin typeface="Aptos" panose="020B0004020202020204" pitchFamily="34" charset="0"/>
              </a:rPr>
              <a:t>Middlewares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3679B-B4AE-574A-D7CE-2533BAF29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201" y="1205601"/>
            <a:ext cx="5701259" cy="5363437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buNone/>
            </a:pPr>
            <a:r>
              <a:rPr lang="en-US" sz="2400" b="1" dirty="0">
                <a:ea typeface="+mn-lt"/>
                <a:cs typeface="+mn-lt"/>
              </a:rPr>
              <a:t>Auth.middleware.js</a:t>
            </a:r>
            <a:r>
              <a:rPr lang="en-US" sz="2400" dirty="0">
                <a:ea typeface="+mn-lt"/>
                <a:cs typeface="+mn-lt"/>
              </a:rPr>
              <a:t>: Checks the JWT in the authorization header. If the token is valid, the user's data is added to the </a:t>
            </a:r>
            <a:r>
              <a:rPr lang="en-US" sz="2400" dirty="0" err="1">
                <a:ea typeface="+mn-lt"/>
                <a:cs typeface="+mn-lt"/>
              </a:rPr>
              <a:t>req.user</a:t>
            </a:r>
            <a:r>
              <a:rPr lang="en-US" sz="2400" dirty="0">
                <a:ea typeface="+mn-lt"/>
                <a:cs typeface="+mn-lt"/>
              </a:rPr>
              <a:t> object; if it is missing or invalid, the request receives an error </a:t>
            </a:r>
            <a:r>
              <a:rPr lang="en-US" sz="2400" i="1" dirty="0">
                <a:ea typeface="+mn-lt"/>
                <a:cs typeface="+mn-lt"/>
              </a:rPr>
              <a:t>(401 / 403)</a:t>
            </a:r>
            <a:r>
              <a:rPr lang="en-US" sz="2400" dirty="0">
                <a:ea typeface="+mn-lt"/>
                <a:cs typeface="+mn-lt"/>
              </a:rPr>
              <a:t>. We use this for protected endpoints.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b="1" dirty="0">
                <a:ea typeface="+mn-lt"/>
                <a:cs typeface="+mn-lt"/>
              </a:rPr>
              <a:t>Optional.middleware.js</a:t>
            </a:r>
            <a:r>
              <a:rPr lang="en-US" sz="2400" dirty="0">
                <a:ea typeface="+mn-lt"/>
                <a:cs typeface="+mn-lt"/>
              </a:rPr>
              <a:t>: Optionally checks the token. If there is a valid token, it loads the user; if it is missing or invalid, the request continues as a guest.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Arial,Sans-Serif" panose="020B0604020202020204" pitchFamily="34" charset="0"/>
            </a:pP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F6ED8-7F55-D45C-020B-AE294D1B5B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55305-EDBA-E7A4-7DA9-49851C937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9BD0D-10D2-D465-F8FE-4474C9A42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-1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85EA98D-8AE0-5692-2673-D7B0673BFA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07" y="660163"/>
            <a:ext cx="4463405" cy="276883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8" name="Picture 7" descr="A computer screen shot of code&#10;&#10;AI-generated content may be incorrect.">
            <a:extLst>
              <a:ext uri="{FF2B5EF4-FFF2-40B4-BE49-F238E27FC236}">
                <a16:creationId xmlns:a16="http://schemas.microsoft.com/office/drawing/2014/main" id="{8FB05465-5328-3ABB-6960-475BF0B0AE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8644" y="3651156"/>
            <a:ext cx="4463405" cy="291788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FAFCE4FC-B0DE-A25B-862E-4074F22AE853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7A49D1BE-5A91-EEEB-2FF3-C3A4A6FC416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19440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FAC36-2E6E-EB2D-65B0-75BA040EB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9C6F63B7-AAF2-6402-2AAE-562F3CED4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7F6A6001-13AA-26D6-36FB-C3EE1EB97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2" y="1205603"/>
            <a:ext cx="4473812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A12E7D-EF8F-2C32-05A0-5678EC677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87" y="362662"/>
            <a:ext cx="5773967" cy="696624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REGISTER &amp; login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2DD656-5AC6-ABB5-28EF-9E899BFE0F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-7395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C34FF0-096B-185E-A4E7-879B0CC09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B93A4-7AFE-2081-5274-4E73E3DBC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9" y="-739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8802B3-DAAB-6277-6CE4-6AC96ED875DA}"/>
              </a:ext>
            </a:extLst>
          </p:cNvPr>
          <p:cNvSpPr txBox="1"/>
          <p:nvPr/>
        </p:nvSpPr>
        <p:spPr>
          <a:xfrm>
            <a:off x="460201" y="1291160"/>
            <a:ext cx="3914229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Task: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Create a new user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Encrypt password (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bcrypt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)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Check if it is already taken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Then log in automatically</a:t>
            </a:r>
            <a:endParaRPr lang="en-US" sz="2000" dirty="0">
              <a:latin typeface="Aptos" panose="020B0004020202020204" pitchFamily="34" charset="0"/>
            </a:endParaRPr>
          </a:p>
          <a:p>
            <a:endParaRPr lang="en-US" dirty="0">
              <a:latin typeface="Avenir Next LT Pro Ligh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101ED7-4C10-907B-601E-095F9135DB3B}"/>
              </a:ext>
            </a:extLst>
          </p:cNvPr>
          <p:cNvSpPr txBox="1"/>
          <p:nvPr/>
        </p:nvSpPr>
        <p:spPr>
          <a:xfrm>
            <a:off x="461056" y="3476435"/>
            <a:ext cx="6017680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</a:rPr>
              <a:t>api</a:t>
            </a:r>
            <a:r>
              <a:rPr lang="en-US" sz="2000" b="1" dirty="0">
                <a:latin typeface="Aptos" panose="020B0004020202020204" pitchFamily="34" charset="0"/>
              </a:rPr>
              <a:t>/auth/login</a:t>
            </a: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+mn-lt"/>
              </a:rPr>
              <a:t>Task: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Search for user in database 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Password verification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JWT generation</a:t>
            </a:r>
            <a:endParaRPr lang="en-US" sz="2000" dirty="0">
              <a:latin typeface="Aptos" panose="020B0004020202020204" pitchFamily="34" charset="0"/>
            </a:endParaRPr>
          </a:p>
          <a:p>
            <a:pPr algn="l"/>
            <a:endParaRPr lang="en-US" dirty="0"/>
          </a:p>
        </p:txBody>
      </p:sp>
      <p:pic>
        <p:nvPicPr>
          <p:cNvPr id="12" name="Content Placeholder 11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2A62A8B9-4284-6FF8-524C-E6CBCE3637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394217" y="3893764"/>
            <a:ext cx="4473812" cy="279481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Picture 1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B8D4E81-AA70-981F-641B-F607360B0A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5609" y="484968"/>
            <a:ext cx="4341109" cy="309734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CA67E8-CE0D-E722-7F1B-56FBF3EE56FA}"/>
              </a:ext>
            </a:extLst>
          </p:cNvPr>
          <p:cNvSpPr txBox="1"/>
          <p:nvPr/>
        </p:nvSpPr>
        <p:spPr>
          <a:xfrm>
            <a:off x="10226436" y="4983395"/>
            <a:ext cx="1626897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Login.controller.js</a:t>
            </a:r>
          </a:p>
        </p:txBody>
      </p:sp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4F763F78-3B16-923B-0101-231F532B6BE0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2672481" y="-1132342"/>
            <a:ext cx="49255" cy="4473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14;p3">
            <a:extLst>
              <a:ext uri="{FF2B5EF4-FFF2-40B4-BE49-F238E27FC236}">
                <a16:creationId xmlns:a16="http://schemas.microsoft.com/office/drawing/2014/main" id="{0B83C7F6-036A-E5AB-7062-169DFFDB21E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 flipH="1">
            <a:off x="2674250" y="4434938"/>
            <a:ext cx="45719" cy="44738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905570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5A99E-6CF1-1811-4338-40D5FA62E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C2BDD8D8-2D18-D234-1CEE-7CFB32253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085"/>
            <a:ext cx="12192000" cy="6885564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0BBC5ED7-8401-E634-1386-14972431D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1" y="1205604"/>
            <a:ext cx="6801977" cy="46499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497840-BFC0-E49D-0FB3-F997F44EB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650" y="387776"/>
            <a:ext cx="6121364" cy="566738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Cart &amp; order/checkout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475FE-83B6-8E26-09C6-EB52C0FDA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59" y="1220158"/>
            <a:ext cx="3405873" cy="2416738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buNone/>
            </a:pPr>
            <a:r>
              <a:rPr lang="en-US" sz="2000" b="1" dirty="0">
                <a:solidFill>
                  <a:srgbClr val="000000"/>
                </a:solidFill>
                <a:ea typeface="+mn-lt"/>
                <a:cs typeface="+mn-lt"/>
              </a:rPr>
              <a:t>For users:</a:t>
            </a:r>
            <a:r>
              <a:rPr lang="en-US" sz="2000" b="1" dirty="0">
                <a:ea typeface="+mn-lt"/>
                <a:cs typeface="+mn-lt"/>
              </a:rPr>
              <a:t> </a:t>
            </a:r>
          </a:p>
          <a:p>
            <a:r>
              <a:rPr lang="en-US" sz="2000" dirty="0"/>
              <a:t>All products are available for purchase</a:t>
            </a:r>
          </a:p>
          <a:p>
            <a:r>
              <a:rPr lang="en-US" sz="2000" dirty="0">
                <a:ea typeface="+mn-lt"/>
                <a:cs typeface="+mn-lt"/>
              </a:rPr>
              <a:t>When purchasing hardware products, it is mandatory to provide shipping information</a:t>
            </a:r>
            <a:endParaRPr lang="en-US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117E3-5199-A894-85A8-B8A6EC05CBC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347052-CE0E-33F0-1A3D-B354B2D7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DC65E-A052-DF58-37F3-8F0621FF0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1391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E0F6B92-3C52-5F71-5811-FC52CCBA74E6}"/>
              </a:ext>
            </a:extLst>
          </p:cNvPr>
          <p:cNvSpPr txBox="1">
            <a:spLocks/>
          </p:cNvSpPr>
          <p:nvPr/>
        </p:nvSpPr>
        <p:spPr>
          <a:xfrm>
            <a:off x="4062590" y="1290679"/>
            <a:ext cx="3202463" cy="2174840"/>
          </a:xfrm>
          <a:prstGeom prst="rect">
            <a:avLst/>
          </a:prstGeom>
        </p:spPr>
        <p:txBody>
          <a:bodyPr vert="horz" lIns="0" tIns="0" rIns="0" bIns="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For Guests:</a:t>
            </a:r>
          </a:p>
          <a:p>
            <a:r>
              <a:rPr lang="en-US" dirty="0">
                <a:ea typeface="+mn-lt"/>
                <a:cs typeface="+mn-lt"/>
              </a:rPr>
              <a:t>Only game keys and gift cards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can be purchased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All you need is an email address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Private and convenient</a:t>
            </a:r>
            <a:endParaRPr lang="en-US" dirty="0"/>
          </a:p>
          <a:p>
            <a:pPr>
              <a:buFont typeface="Calibri" panose="020B0604020202020204" pitchFamily="34" charset="0"/>
              <a:buChar char="-"/>
            </a:pPr>
            <a:endParaRPr lang="en-US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5875CF-DDA0-1447-BCB8-939DC4D4FDCC}"/>
              </a:ext>
            </a:extLst>
          </p:cNvPr>
          <p:cNvSpPr txBox="1"/>
          <p:nvPr/>
        </p:nvSpPr>
        <p:spPr>
          <a:xfrm>
            <a:off x="454425" y="3429000"/>
            <a:ext cx="3118318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Example: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{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first_name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"Kiss",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last_name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"Péter",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"email": "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  <a:hlinkClick r:id="rId4"/>
              </a:rPr>
              <a:t>teszt@email.com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"phone": "06301234567",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zip_code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"1111",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"city": "Budapest",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address_line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"Sziget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utca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12",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additional_info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"2.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emelet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5."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}</a:t>
            </a:r>
            <a:endParaRPr lang="en-US" dirty="0">
              <a:latin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8993ED-2140-D5A7-AD3E-79782984A80D}"/>
              </a:ext>
            </a:extLst>
          </p:cNvPr>
          <p:cNvSpPr txBox="1"/>
          <p:nvPr/>
        </p:nvSpPr>
        <p:spPr>
          <a:xfrm>
            <a:off x="3964332" y="3483407"/>
            <a:ext cx="3022879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Example: </a:t>
            </a:r>
          </a:p>
          <a:p>
            <a:r>
              <a:rPr lang="en-US" sz="2400" dirty="0">
                <a:latin typeface="Aptos" panose="020B0004020202020204" pitchFamily="34" charset="0"/>
              </a:rPr>
              <a:t>{</a:t>
            </a:r>
          </a:p>
          <a:p>
            <a:r>
              <a:rPr lang="en-US" sz="2400" dirty="0">
                <a:latin typeface="Aptos" panose="020B0004020202020204" pitchFamily="34" charset="0"/>
              </a:rPr>
              <a:t>  "email": "</a:t>
            </a:r>
            <a:r>
              <a:rPr lang="en-US" sz="2400" dirty="0">
                <a:latin typeface="Aptos" panose="020B0004020202020204" pitchFamily="34" charset="0"/>
                <a:hlinkClick r:id="rId4"/>
              </a:rPr>
              <a:t>teszt@email.com</a:t>
            </a:r>
            <a:r>
              <a:rPr lang="en-US" sz="2400" dirty="0">
                <a:latin typeface="Aptos" panose="020B0004020202020204" pitchFamily="34" charset="0"/>
              </a:rPr>
              <a:t>"</a:t>
            </a:r>
          </a:p>
          <a:p>
            <a:r>
              <a:rPr lang="en-US" sz="2400" dirty="0">
                <a:latin typeface="Aptos" panose="020B0004020202020204" pitchFamily="34" charset="0"/>
              </a:rPr>
              <a:t>}</a:t>
            </a:r>
          </a:p>
          <a:p>
            <a:pPr algn="l"/>
            <a:endParaRPr lang="en-US" dirty="0"/>
          </a:p>
        </p:txBody>
      </p:sp>
      <p:pic>
        <p:nvPicPr>
          <p:cNvPr id="11" name="Picture 10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D5E1244-46F8-B5A0-C2A0-7E1F84A2B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130" y="785608"/>
            <a:ext cx="3677045" cy="561109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115705-6804-EBF4-D603-F34295EB9247}"/>
              </a:ext>
            </a:extLst>
          </p:cNvPr>
          <p:cNvSpPr txBox="1"/>
          <p:nvPr/>
        </p:nvSpPr>
        <p:spPr>
          <a:xfrm>
            <a:off x="8027386" y="372210"/>
            <a:ext cx="210482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Order.controller.js</a:t>
            </a:r>
          </a:p>
        </p:txBody>
      </p:sp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6F74F5B5-0301-30E6-AB49-CA434D219099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935008" y="-2264468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14B380CD-DF95-C605-320A-29FC16615725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834003" y="2620739"/>
            <a:ext cx="45721" cy="68106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922505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26A1B-43C3-6333-E7BF-34F2AB2B6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8782054E-B94A-AEE4-7F22-9BFFE3AEB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8F4ACB1-3623-D21D-E043-382670B8E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180" y="1602282"/>
            <a:ext cx="4760042" cy="42545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5D565-1BB3-4984-0A8E-7F6F4DF67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4598" y="379986"/>
            <a:ext cx="8545415" cy="636011"/>
          </a:xfrm>
        </p:spPr>
        <p:txBody>
          <a:bodyPr>
            <a:noAutofit/>
          </a:bodyPr>
          <a:lstStyle/>
          <a:p>
            <a:pPr algn="ctr"/>
            <a:r>
              <a:rPr lang="en-US" sz="4800" dirty="0">
                <a:latin typeface="Aptos" panose="020B0004020202020204" pitchFamily="34" charset="0"/>
                <a:ea typeface="+mj-lt"/>
                <a:cs typeface="+mj-lt"/>
              </a:rPr>
              <a:t>API </a:t>
            </a:r>
            <a:r>
              <a:rPr lang="en-US" sz="4800" dirty="0" err="1">
                <a:latin typeface="Aptos" panose="020B0004020202020204" pitchFamily="34" charset="0"/>
                <a:ea typeface="+mj-lt"/>
                <a:cs typeface="+mj-lt"/>
              </a:rPr>
              <a:t>opetarion</a:t>
            </a:r>
            <a:r>
              <a:rPr lang="en-US" sz="4800" dirty="0">
                <a:latin typeface="Aptos" panose="020B0004020202020204" pitchFamily="34" charset="0"/>
                <a:ea typeface="+mj-lt"/>
                <a:cs typeface="+mj-lt"/>
              </a:rPr>
              <a:t>/postman tests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227F6-F033-DEC0-8F85-6E58D7031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180" y="1876438"/>
            <a:ext cx="4760042" cy="4249286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/auth/login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/cart/add</a:t>
            </a: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GET 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DELETE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/cart/remove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/orders/checkout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3EC1D-F974-5B06-80B6-279B7341913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844567" y="118888"/>
            <a:ext cx="1165698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547F4-C834-4FD8-AD41-A72BE890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9FD51F-3BF9-2D49-B897-6FDD6E1AAE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402" y="1509221"/>
            <a:ext cx="5191963" cy="425558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F05691AF-0F96-0168-F4CB-1012D9F3CCD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00A8BF07-E2AF-EEA0-8FD8-96D22F13985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383565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FDAC4-1579-4C66-3428-8E28C7FB3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A09672D2-494F-F608-19A8-E6BBF6688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4DBB999-56BA-0977-5695-08DB7DA66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02282"/>
            <a:ext cx="6386323" cy="425454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94D3C37-EBA0-5AA4-8C55-1C35D60A4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661" y="12044"/>
            <a:ext cx="9849201" cy="1325563"/>
          </a:xfrm>
        </p:spPr>
        <p:txBody>
          <a:bodyPr>
            <a:normAutofit fontScale="90000"/>
          </a:bodyPr>
          <a:lstStyle/>
          <a:p>
            <a:r>
              <a:rPr lang="hu-HU" dirty="0">
                <a:latin typeface="Aptos" panose="020B0004020202020204" pitchFamily="34" charset="0"/>
              </a:rPr>
              <a:t>  </a:t>
            </a:r>
            <a:r>
              <a:rPr lang="hu-HU" sz="5300" dirty="0" err="1">
                <a:latin typeface="Aptos" panose="020B0004020202020204" pitchFamily="34" charset="0"/>
              </a:rPr>
              <a:t>Database</a:t>
            </a:r>
            <a:r>
              <a:rPr lang="hu-HU" sz="5300" dirty="0">
                <a:latin typeface="Aptos" panose="020B0004020202020204" pitchFamily="34" charset="0"/>
              </a:rPr>
              <a:t> design and </a:t>
            </a:r>
            <a:r>
              <a:rPr lang="hu-HU" sz="5300" dirty="0" err="1">
                <a:latin typeface="Aptos" panose="020B0004020202020204" pitchFamily="34" charset="0"/>
              </a:rPr>
              <a:t>operation</a:t>
            </a:r>
            <a:endParaRPr lang="hu-HU" sz="53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ECC91D5-B980-43DC-9D1A-614841EDDA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80" y="1616635"/>
            <a:ext cx="6324954" cy="4240196"/>
          </a:xfrm>
        </p:spPr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Our project is a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 that sells digital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products, handling games, keys, and gift cards.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One of the most important components of the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system is the database, which stores all user,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product, and order-related data.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Kép 5" descr="A képen képernyőkép, kör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3ACEC93-8D28-BC6A-F90C-3B08E0FD89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17" y="1780854"/>
            <a:ext cx="3509376" cy="350937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8F799A73-8B81-7934-FABC-D98DA5546E6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82F4C67C-CB4B-1ED9-E5D5-31446A0001B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C354FE9-623F-F329-B45A-24954B0A93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6008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26A03-60CF-8018-93E2-5203C6CE7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92D4CC98-E520-9CDB-3BAD-901329C21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4D332305-3950-06D8-E045-C6AE533C2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48002"/>
            <a:ext cx="5692853" cy="30099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9916B19-FB2A-9DC3-F3E1-2FAAD4B86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686" y="0"/>
            <a:ext cx="6386323" cy="1325563"/>
          </a:xfrm>
        </p:spPr>
        <p:txBody>
          <a:bodyPr>
            <a:normAutofit fontScale="90000"/>
          </a:bodyPr>
          <a:lstStyle/>
          <a:p>
            <a:r>
              <a:rPr lang="hu-HU" dirty="0"/>
              <a:t>  </a:t>
            </a:r>
            <a:r>
              <a:rPr lang="hu-HU" sz="5300" dirty="0" err="1">
                <a:latin typeface="Aptos" panose="020B0004020202020204" pitchFamily="34" charset="0"/>
              </a:rPr>
              <a:t>Database</a:t>
            </a:r>
            <a:r>
              <a:rPr lang="hu-HU" sz="5300" dirty="0">
                <a:latin typeface="Aptos" panose="020B0004020202020204" pitchFamily="34" charset="0"/>
              </a:rPr>
              <a:t> </a:t>
            </a:r>
            <a:r>
              <a:rPr lang="hu-HU" sz="5300" dirty="0" err="1">
                <a:latin typeface="Aptos" panose="020B0004020202020204" pitchFamily="34" charset="0"/>
              </a:rPr>
              <a:t>technolgy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5802A7A-1844-3406-3125-A41C3A67C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78" y="1648002"/>
            <a:ext cx="5692853" cy="3009915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MySQL database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XAMPP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phpMyAdmin</a:t>
            </a:r>
          </a:p>
          <a:p>
            <a:pPr>
              <a:buNone/>
            </a:pPr>
            <a:endParaRPr lang="en-US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Backend: Node.js + Express + </a:t>
            </a:r>
            <a:r>
              <a:rPr lang="en-US" dirty="0" err="1">
                <a:latin typeface="Aptos" panose="020B0004020202020204" pitchFamily="34" charset="0"/>
              </a:rPr>
              <a:t>Sequelize</a:t>
            </a:r>
            <a:r>
              <a:rPr lang="en-US" dirty="0">
                <a:latin typeface="Aptos" panose="020B0004020202020204" pitchFamily="34" charset="0"/>
              </a:rPr>
              <a:t> ORM</a:t>
            </a:r>
            <a:endParaRPr lang="en-US" dirty="0"/>
          </a:p>
          <a:p>
            <a:pPr>
              <a:buNone/>
            </a:pPr>
            <a:endParaRPr lang="en-US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AEEAF2F-DEB1-0B35-6836-8DB7E0D42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8500" y="2883291"/>
            <a:ext cx="3739019" cy="717767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D5DF38B7-2F2B-C42F-EF25-FC2CD73BF3F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75ABDB53-6E01-E1D6-500E-22AC526AD8B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56A5BE6-603C-A1A0-E2DB-3F76C5B983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6873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23A77-5F85-7C45-4BB8-07F0BB38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E60C988E-2636-81A9-EAB8-29D4800C0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F1D913D-056D-B5B0-38B1-39F950174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1083" y="60167"/>
            <a:ext cx="8618285" cy="1325563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The </a:t>
            </a:r>
            <a:r>
              <a:rPr lang="hu-HU" sz="4800" dirty="0" err="1">
                <a:latin typeface="Aptos" panose="020B0004020202020204" pitchFamily="34" charset="0"/>
              </a:rPr>
              <a:t>database</a:t>
            </a:r>
            <a:r>
              <a:rPr lang="hu-HU" sz="4800" dirty="0">
                <a:latin typeface="Aptos" panose="020B0004020202020204" pitchFamily="34" charset="0"/>
              </a:rPr>
              <a:t> main </a:t>
            </a:r>
            <a:r>
              <a:rPr lang="hu-HU" sz="4800" dirty="0" err="1">
                <a:latin typeface="Aptos" panose="020B0004020202020204" pitchFamily="34" charset="0"/>
              </a:rPr>
              <a:t>columns</a:t>
            </a:r>
            <a:endParaRPr lang="hu-HU" sz="4800" dirty="0">
              <a:latin typeface="Aptos" panose="020B0004020202020204" pitchFamily="34" charset="0"/>
            </a:endParaRPr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F092E397-81F1-8B72-02AC-D797D5A26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7" y="2439352"/>
            <a:ext cx="10972800" cy="2543175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1901B393-21EF-5C6D-076A-0A6A0124701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D2B9CF0E-41D3-961D-68E0-58DECC36B77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74AC903-9446-D506-7FE0-8A3A91402F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6316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38834-0EE0-62D4-F523-201BC82A4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6A25CD9C-88DF-83CC-734C-EE260D28B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AAB2478-61F8-E82B-CC97-00D2620C7D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05" y="1457759"/>
            <a:ext cx="4982187" cy="96959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2D6DA3D-E650-D11C-DDDD-54C56A9C0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0662" y="69393"/>
            <a:ext cx="1964422" cy="1325563"/>
          </a:xfrm>
        </p:spPr>
        <p:txBody>
          <a:bodyPr>
            <a:normAutofit fontScale="90000"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</a:t>
            </a:r>
            <a:r>
              <a:rPr lang="hu-HU" sz="4800" dirty="0" err="1">
                <a:latin typeface="Aptos" panose="020B0004020202020204" pitchFamily="34" charset="0"/>
              </a:rPr>
              <a:t>User</a:t>
            </a:r>
            <a:r>
              <a:rPr lang="en-US" sz="4800" dirty="0">
                <a:latin typeface="Aptos" panose="020B0004020202020204" pitchFamily="34" charset="0"/>
              </a:rPr>
              <a:t>s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CC4C3F5-724C-49EA-3773-D6C8D7C6AC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7679" y="1324584"/>
            <a:ext cx="5505190" cy="4393091"/>
          </a:xfrm>
        </p:spPr>
        <p:txBody>
          <a:bodyPr/>
          <a:lstStyle/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It stores user data: email, password, name, registration.</a:t>
            </a:r>
            <a:endParaRPr lang="hu-HU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CC744FF5-7463-C45C-C023-DA7769AF2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88" y="2789912"/>
            <a:ext cx="10968233" cy="1455628"/>
          </a:xfrm>
          <a:prstGeom prst="rect">
            <a:avLst/>
          </a:prstGeom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972C221C-B19D-A9F7-99CB-281DC21F994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1FA509D-AD8D-CA4A-9517-9D4A75DDFAB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7443C12B-8469-C456-DB0B-F26E53DA7A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3679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38C4F-BB12-917F-782C-270B4F316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9BCC5A2-0631-4AB3-D1C4-4BBC284A9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7667677-6F9F-E958-D07C-B3CF22C14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49" y="1808353"/>
            <a:ext cx="3323481" cy="253524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6A60682-7D25-D996-A13B-11649875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695" y="60167"/>
            <a:ext cx="2874604" cy="1325563"/>
          </a:xfrm>
        </p:spPr>
        <p:txBody>
          <a:bodyPr>
            <a:noAutofit/>
          </a:bodyPr>
          <a:lstStyle/>
          <a:p>
            <a:r>
              <a:rPr lang="hu-HU" sz="4800" dirty="0"/>
              <a:t>  </a:t>
            </a:r>
            <a:r>
              <a:rPr lang="hu-HU" sz="4800" dirty="0" err="1">
                <a:latin typeface="Aptos" panose="020B0004020202020204" pitchFamily="34" charset="0"/>
              </a:rPr>
              <a:t>Product</a:t>
            </a:r>
            <a:r>
              <a:rPr lang="en-US" sz="4800" dirty="0">
                <a:latin typeface="Aptos" panose="020B0004020202020204" pitchFamily="34" charset="0"/>
              </a:rPr>
              <a:t>s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B02F275-DDA7-58D9-CD93-45833AF146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3213" y="1808353"/>
            <a:ext cx="3359155" cy="2535243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It contains all products of the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: name, price, description,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category, image.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szám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69553F89-4C84-F6CE-92AF-853A2984E6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655" y="1808353"/>
            <a:ext cx="6976776" cy="3768576"/>
          </a:xfrm>
          <a:prstGeom prst="rect">
            <a:avLst/>
          </a:prstGeom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E706C89A-3944-B251-4EFC-54BAD608749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32AE9B45-9192-F92A-4EE7-77764A8775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641DC1E-846E-9D86-C522-2BA6FD8A16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827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B9825-8BD4-054A-28DF-2DA5FF5E8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58BAEDAD-7102-622D-EB46-4E7367EB2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5E1251A-8AC8-AB9A-A82E-57D58412B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71" y="1589932"/>
            <a:ext cx="4871723" cy="106128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9588867-01C8-EF90-3BBE-5915A5757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8038" y="40729"/>
            <a:ext cx="7194987" cy="1325563"/>
          </a:xfrm>
        </p:spPr>
        <p:txBody>
          <a:bodyPr>
            <a:normAutofit fontScale="90000"/>
          </a:bodyPr>
          <a:lstStyle/>
          <a:p>
            <a:r>
              <a:rPr lang="hu-HU" dirty="0"/>
              <a:t>  </a:t>
            </a:r>
            <a:r>
              <a:rPr lang="en-US" sz="4800" dirty="0">
                <a:latin typeface="Aptos" panose="020B0004020202020204" pitchFamily="34" charset="0"/>
              </a:rPr>
              <a:t>Digital keys and gift cards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AD97770-14B6-AB76-73A9-9C615059B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5268" y="1486576"/>
            <a:ext cx="4871723" cy="1267991"/>
          </a:xfrm>
        </p:spPr>
        <p:txBody>
          <a:bodyPr/>
          <a:lstStyle/>
          <a:p>
            <a:pPr>
              <a:buNone/>
            </a:pPr>
            <a:r>
              <a:rPr lang="en-US" dirty="0"/>
              <a:t> </a:t>
            </a:r>
            <a:r>
              <a:rPr lang="en-US" sz="3000" dirty="0">
                <a:latin typeface="Aptos" panose="020B0004020202020204" pitchFamily="34" charset="0"/>
              </a:rPr>
              <a:t>– </a:t>
            </a:r>
            <a:r>
              <a:rPr lang="en-US" sz="3000" dirty="0" err="1">
                <a:latin typeface="Aptos" panose="020B0004020202020204" pitchFamily="34" charset="0"/>
              </a:rPr>
              <a:t>gamekeys</a:t>
            </a:r>
            <a:r>
              <a:rPr lang="en-US" sz="3000" dirty="0">
                <a:latin typeface="Aptos" panose="020B0004020202020204" pitchFamily="34" charset="0"/>
              </a:rPr>
              <a:t>:</a:t>
            </a:r>
            <a:endParaRPr lang="hu-HU" sz="3000" dirty="0" err="1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</a:t>
            </a:r>
            <a:r>
              <a:rPr lang="en-US" sz="3000" dirty="0" err="1">
                <a:latin typeface="Aptos" panose="020B0004020202020204" pitchFamily="34" charset="0"/>
              </a:rPr>
              <a:t>giftcards</a:t>
            </a:r>
            <a:r>
              <a:rPr lang="en-US" sz="3000" dirty="0">
                <a:latin typeface="Aptos" panose="020B0004020202020204" pitchFamily="34" charset="0"/>
              </a:rPr>
              <a:t>:</a:t>
            </a:r>
            <a:endParaRPr lang="en-US" dirty="0"/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99D4DFC6-D192-344C-188D-4728F9158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764" y="1566132"/>
            <a:ext cx="4876800" cy="316230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00D36D00-2978-5A36-96E9-4EB5F6536E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717" y="3345284"/>
            <a:ext cx="6590648" cy="2766295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E842F72C-5707-3B9E-5512-5583C1448A7B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01CCA605-7BCE-FE35-90D8-8BE32561640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C75E8F3-6936-6D63-E3EA-4343FBB93C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6355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B1B75-331E-1385-95A6-DE5C4222C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1747A38D-6908-0473-DC6C-60AC5A071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32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D5D445A-C280-B576-B388-EC2D26254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13" y="1604654"/>
            <a:ext cx="5049693" cy="1538281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F37D52BF-0D5B-DE0B-E0C5-3B7B7EC21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3719" y="28146"/>
            <a:ext cx="6396081" cy="1325563"/>
          </a:xfrm>
        </p:spPr>
        <p:txBody>
          <a:bodyPr/>
          <a:lstStyle/>
          <a:p>
            <a:r>
              <a:rPr lang="hu-HU" dirty="0">
                <a:latin typeface="Aptos" panose="020B0004020202020204" pitchFamily="34" charset="0"/>
              </a:rPr>
              <a:t>  </a:t>
            </a:r>
            <a:r>
              <a:rPr lang="hu-HU" dirty="0" err="1">
                <a:latin typeface="Aptos" panose="020B0004020202020204" pitchFamily="34" charset="0"/>
              </a:rPr>
              <a:t>Cart</a:t>
            </a:r>
            <a:r>
              <a:rPr lang="hu-HU" dirty="0">
                <a:latin typeface="Aptos" panose="020B0004020202020204" pitchFamily="34" charset="0"/>
              </a:rPr>
              <a:t> and </a:t>
            </a:r>
            <a:r>
              <a:rPr lang="hu-HU" dirty="0" err="1">
                <a:latin typeface="Aptos" panose="020B0004020202020204" pitchFamily="34" charset="0"/>
              </a:rPr>
              <a:t>order</a:t>
            </a:r>
            <a:r>
              <a:rPr lang="hu-HU" dirty="0">
                <a:latin typeface="Aptos" panose="020B0004020202020204" pitchFamily="34" charset="0"/>
              </a:rPr>
              <a:t> </a:t>
            </a:r>
            <a:r>
              <a:rPr lang="hu-HU" dirty="0" err="1">
                <a:latin typeface="Aptos" panose="020B0004020202020204" pitchFamily="34" charset="0"/>
              </a:rPr>
              <a:t>logic</a:t>
            </a:r>
            <a:endParaRPr lang="hu-HU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8D2FCAC-5B93-C7B5-70C8-E30C07FAE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4212" y="1613466"/>
            <a:ext cx="5049694" cy="1538282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cart_items</a:t>
            </a:r>
            <a:r>
              <a:rPr lang="en-US" dirty="0">
                <a:latin typeface="Aptos" panose="020B0004020202020204" pitchFamily="34" charset="0"/>
              </a:rPr>
              <a:t>: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orders: 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orderdetails</a:t>
            </a:r>
            <a:r>
              <a:rPr lang="en-US" dirty="0">
                <a:latin typeface="Aptos" panose="020B0004020202020204" pitchFamily="34" charset="0"/>
              </a:rPr>
              <a:t>:</a:t>
            </a: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FCD7A779-02F8-E625-1603-3CF471A37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425" y="1510887"/>
            <a:ext cx="5501014" cy="209302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1CDECA7E-5E32-CE16-55EF-1CA7413396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670" y="3967163"/>
            <a:ext cx="8545099" cy="2295264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D2621D69-36FE-24B4-B882-040AF6B1A8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9BCCC329-2681-F843-A171-6DCF03B34F3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7722BCF9-1629-4FA5-A346-A09F894613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042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C9748-A758-5E58-8789-0257E87B9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34C7C70F-3CF3-F212-417C-F96BD7CDF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BFF0D19-4427-A809-4694-1EF9D125A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2" y="1621491"/>
            <a:ext cx="2720935" cy="41794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385BCCE-0614-0415-831C-80F8CAFDD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2417" y="29381"/>
            <a:ext cx="2227159" cy="1325563"/>
          </a:xfrm>
        </p:spPr>
        <p:txBody>
          <a:bodyPr/>
          <a:lstStyle/>
          <a:p>
            <a:r>
              <a:rPr lang="hu-HU" dirty="0"/>
              <a:t>  </a:t>
            </a:r>
            <a:r>
              <a:rPr lang="hu-HU" dirty="0" err="1">
                <a:latin typeface="Aptos" panose="020B0004020202020204" pitchFamily="34" charset="0"/>
              </a:rPr>
              <a:t>Orders</a:t>
            </a:r>
            <a:endParaRPr lang="hu-HU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7D7FF14-0D8C-3F16-0DCA-24804DF595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914" y="1578536"/>
            <a:ext cx="5275546" cy="4393091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first_name</a:t>
            </a:r>
            <a:endParaRPr lang="en-US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last_name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email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phone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zip_code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city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address_line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additional_info</a:t>
            </a:r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4FE6AABE-822F-7D18-AC6E-17E7C9ECE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416" y="2357421"/>
            <a:ext cx="8665557" cy="302465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4CD3C3E6-E5B0-FB58-2CA3-23F2C54F3C9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4D7BAE4B-5BF9-EB56-CB60-81988E6C630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27C7232-3F1E-26BB-30BC-EFA0FA7F60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5500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A3E3D-51D5-971B-3446-84C255063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A4FDC8E6-246A-0A1D-72DB-A3B291784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AA6D2EE-9ED1-513E-3BBB-D6419292C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172" y="33626"/>
            <a:ext cx="8189647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Connections</a:t>
            </a:r>
            <a:r>
              <a:rPr lang="hu-HU" sz="4800" dirty="0">
                <a:latin typeface="Aptos" panose="020B0004020202020204" pitchFamily="34" charset="0"/>
              </a:rPr>
              <a:t> in </a:t>
            </a:r>
            <a:r>
              <a:rPr lang="hu-HU" sz="4800" dirty="0" err="1">
                <a:latin typeface="Aptos" panose="020B0004020202020204" pitchFamily="34" charset="0"/>
              </a:rPr>
              <a:t>the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database</a:t>
            </a:r>
            <a:endParaRPr lang="hu-HU" sz="4800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Betűtípus, diagram látható&#10;&#10;Lehet, hogy az AI által létrehozott tartalom helytelen.">
            <a:extLst>
              <a:ext uri="{FF2B5EF4-FFF2-40B4-BE49-F238E27FC236}">
                <a16:creationId xmlns:a16="http://schemas.microsoft.com/office/drawing/2014/main" id="{120EAC91-E0A3-143F-AEA0-EEE060C12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121" y="1359189"/>
            <a:ext cx="9795747" cy="4819369"/>
          </a:xfrm>
          <a:prstGeom prst="rect">
            <a:avLst/>
          </a:prstGeom>
        </p:spPr>
      </p:pic>
      <p:pic>
        <p:nvPicPr>
          <p:cNvPr id="3" name="Google Shape;114;p3">
            <a:extLst>
              <a:ext uri="{FF2B5EF4-FFF2-40B4-BE49-F238E27FC236}">
                <a16:creationId xmlns:a16="http://schemas.microsoft.com/office/drawing/2014/main" id="{D52A1D84-DE27-35D7-40D1-3D093A4707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C4E7DDE9-B061-8D5E-8839-BD9CE83305F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702DE53-13C0-2EB4-3313-9E6B87608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5612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985BF-C052-97CF-C943-343B173D8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9A2B676C-0E40-B6F6-9F05-53E6B458D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90" y="1338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027EA24F-B5AA-33F6-D4A6-DEE69CA16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72" y="1611312"/>
            <a:ext cx="7366905" cy="4301687"/>
          </a:xfrm>
          <a:prstGeom prst="rect">
            <a:avLst/>
          </a:prstGeom>
        </p:spPr>
      </p:pic>
      <p:sp>
        <p:nvSpPr>
          <p:cNvPr id="12" name="Szöveg helye 11">
            <a:extLst>
              <a:ext uri="{FF2B5EF4-FFF2-40B4-BE49-F238E27FC236}">
                <a16:creationId xmlns:a16="http://schemas.microsoft.com/office/drawing/2014/main" id="{DC4031B8-D0DE-037B-9C55-A589C66CB6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9273" y="1608616"/>
            <a:ext cx="7366904" cy="4301687"/>
          </a:xfrm>
        </p:spPr>
        <p:txBody>
          <a:bodyPr>
            <a:normAutofit/>
          </a:bodyPr>
          <a:lstStyle/>
          <a:p>
            <a:r>
              <a:rPr lang="en-US" sz="3000" dirty="0">
                <a:latin typeface="Aptos" panose="020B0004020202020204" pitchFamily="34" charset="0"/>
              </a:rPr>
              <a:t>Real payment system</a:t>
            </a:r>
          </a:p>
          <a:p>
            <a:endParaRPr lang="en-US" sz="3000" dirty="0">
              <a:latin typeface="Aptos" panose="020B0004020202020204" pitchFamily="34" charset="0"/>
            </a:endParaRPr>
          </a:p>
          <a:p>
            <a:r>
              <a:rPr lang="en-US" sz="3000" dirty="0">
                <a:latin typeface="Aptos" panose="020B0004020202020204" pitchFamily="34" charset="0"/>
              </a:rPr>
              <a:t>Email sending (invoices, keys, orders)</a:t>
            </a:r>
          </a:p>
          <a:p>
            <a:endParaRPr lang="en-US" sz="3000" dirty="0">
              <a:latin typeface="Aptos" panose="020B0004020202020204" pitchFamily="34" charset="0"/>
            </a:endParaRPr>
          </a:p>
          <a:p>
            <a:r>
              <a:rPr lang="en-US" sz="3000" dirty="0">
                <a:latin typeface="Aptos" panose="020B0004020202020204" pitchFamily="34" charset="0"/>
              </a:rPr>
              <a:t>Product videos on the product page</a:t>
            </a:r>
          </a:p>
          <a:p>
            <a:endParaRPr lang="en-US" sz="3000" dirty="0">
              <a:latin typeface="Aptos" panose="020B0004020202020204" pitchFamily="34" charset="0"/>
            </a:endParaRPr>
          </a:p>
          <a:p>
            <a:r>
              <a:rPr lang="en-US" sz="3000" dirty="0">
                <a:latin typeface="Aptos" panose="020B0004020202020204" pitchFamily="34" charset="0"/>
              </a:rPr>
              <a:t>Coupon code system</a:t>
            </a:r>
            <a:endParaRPr lang="hu-HU" sz="3000" dirty="0">
              <a:latin typeface="Aptos" panose="020B0004020202020204" pitchFamily="34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34BD68C-521C-F772-BAF6-D1D77111E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9446" y="187416"/>
            <a:ext cx="6780858" cy="878360"/>
          </a:xfrm>
        </p:spPr>
        <p:txBody>
          <a:bodyPr>
            <a:noAutofit/>
          </a:bodyPr>
          <a:lstStyle/>
          <a:p>
            <a:r>
              <a:rPr lang="hu-HU" sz="4800" dirty="0" err="1">
                <a:latin typeface="Aptos" panose="020B0004020202020204" pitchFamily="34" charset="0"/>
              </a:rPr>
              <a:t>Further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development</a:t>
            </a:r>
            <a:endParaRPr lang="hu-HU" sz="4800" dirty="0">
              <a:latin typeface="Aptos" panose="020B0004020202020204" pitchFamily="34" charset="0"/>
            </a:endParaRP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0D3EAB54-701B-C6F2-33F5-34A96423272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C14C396E-C52B-F11E-8136-9708E3C431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BB8FFF0-F267-064E-11B9-9A46337FE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4252" y="2664080"/>
            <a:ext cx="1546052" cy="144555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A98EB0A3-2BCB-78FF-57E7-346E7DDEE0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0304" y="1803183"/>
            <a:ext cx="1434829" cy="86089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D9555805-CB34-AE28-C811-8159AA9831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7855" y="4411519"/>
            <a:ext cx="1996841" cy="1498784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F1B99B66-48CC-8272-35B3-2F0F9CBC6B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3421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>
          <a:extLst>
            <a:ext uri="{FF2B5EF4-FFF2-40B4-BE49-F238E27FC236}">
              <a16:creationId xmlns:a16="http://schemas.microsoft.com/office/drawing/2014/main" id="{30524446-EDEB-3B8E-A476-76145520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ED7C7719-34D9-C5FB-C06B-4F41019951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607B7BF-9473-0F14-4E7B-1FCAF9A99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153151"/>
            <a:ext cx="8044963" cy="1325563"/>
          </a:xfrm>
          <a:prstGeom prst="rect">
            <a:avLst/>
          </a:prstGeom>
        </p:spPr>
      </p:pic>
      <p:sp>
        <p:nvSpPr>
          <p:cNvPr id="350" name="Google Shape;350;p32">
            <a:extLst>
              <a:ext uri="{FF2B5EF4-FFF2-40B4-BE49-F238E27FC236}">
                <a16:creationId xmlns:a16="http://schemas.microsoft.com/office/drawing/2014/main" id="{0758852B-EAE0-3D2F-C484-36306612AF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1002" y="4153152"/>
            <a:ext cx="8868506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Thank you for your attention!</a:t>
            </a:r>
            <a:endParaRPr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4FBC47AF-CC96-174D-ABF2-4207520069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123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1506</TotalTime>
  <Words>1539</Words>
  <Application>Microsoft Office PowerPoint</Application>
  <PresentationFormat>Szélesvásznú</PresentationFormat>
  <Paragraphs>347</Paragraphs>
  <Slides>50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50</vt:i4>
      </vt:variant>
    </vt:vector>
  </HeadingPairs>
  <TitlesOfParts>
    <vt:vector size="58" baseType="lpstr">
      <vt:lpstr>Avenir Next LT Pro Light</vt:lpstr>
      <vt:lpstr>Aptos</vt:lpstr>
      <vt:lpstr>Arial,Sans-Serif</vt:lpstr>
      <vt:lpstr>Arial</vt:lpstr>
      <vt:lpstr>Calibri</vt:lpstr>
      <vt:lpstr>Play</vt:lpstr>
      <vt:lpstr>Wingdings</vt:lpstr>
      <vt:lpstr>Office-téma</vt:lpstr>
      <vt:lpstr>PowerPoint-bemutató</vt:lpstr>
      <vt:lpstr>Projekt tagok</vt:lpstr>
      <vt:lpstr>Projekt témája</vt:lpstr>
      <vt:lpstr>Amit használtam</vt:lpstr>
      <vt:lpstr>Mappastruktúra</vt:lpstr>
      <vt:lpstr>App routes</vt:lpstr>
      <vt:lpstr>Főoldal + Funkciók</vt:lpstr>
      <vt:lpstr>Kosár + Pénztár</vt:lpstr>
      <vt:lpstr>Felugró ablakok</vt:lpstr>
      <vt:lpstr>Backend</vt:lpstr>
      <vt:lpstr>Mappastruktúra</vt:lpstr>
      <vt:lpstr>Middlewares</vt:lpstr>
      <vt:lpstr>REGISTER &amp; login</vt:lpstr>
      <vt:lpstr>Cart &amp; order/checkout</vt:lpstr>
      <vt:lpstr>API működés/postman tesztek</vt:lpstr>
      <vt:lpstr>  Adatbázis tervezése és működése</vt:lpstr>
      <vt:lpstr>  Adatbázis technológiája</vt:lpstr>
      <vt:lpstr>  Az adatbázis fő táblái</vt:lpstr>
      <vt:lpstr>  Users tábla</vt:lpstr>
      <vt:lpstr>  Products tábla</vt:lpstr>
      <vt:lpstr>  Digitális kulcsok és giftcardok</vt:lpstr>
      <vt:lpstr>  Kosár és rendelés logika</vt:lpstr>
      <vt:lpstr>  Szállítási adatok </vt:lpstr>
      <vt:lpstr>  Kapcsolatok az adatbázisban</vt:lpstr>
      <vt:lpstr>Tovább fejlesztés</vt:lpstr>
      <vt:lpstr>Köszönjük a figyelmet!</vt:lpstr>
      <vt:lpstr>PowerPoint-bemutató</vt:lpstr>
      <vt:lpstr>Project members</vt:lpstr>
      <vt:lpstr>Project topic</vt:lpstr>
      <vt:lpstr>What I used</vt:lpstr>
      <vt:lpstr>Home + Features</vt:lpstr>
      <vt:lpstr>Cart + Checkout</vt:lpstr>
      <vt:lpstr>Pop-up windows</vt:lpstr>
      <vt:lpstr>Backend</vt:lpstr>
      <vt:lpstr>Folder structure</vt:lpstr>
      <vt:lpstr>Middlewares</vt:lpstr>
      <vt:lpstr>REGISTER &amp; login</vt:lpstr>
      <vt:lpstr>Cart &amp; order/checkout</vt:lpstr>
      <vt:lpstr>API opetarion/postman tests</vt:lpstr>
      <vt:lpstr>  Database design and operation</vt:lpstr>
      <vt:lpstr>  Database technolgy</vt:lpstr>
      <vt:lpstr>  The database main columns</vt:lpstr>
      <vt:lpstr>  Users</vt:lpstr>
      <vt:lpstr>  Products</vt:lpstr>
      <vt:lpstr>  Digital keys and gift cards</vt:lpstr>
      <vt:lpstr>  Cart and order logic</vt:lpstr>
      <vt:lpstr>  Orders</vt:lpstr>
      <vt:lpstr> Connections in the database</vt:lpstr>
      <vt:lpstr>Further development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O365 felhasználó</dc:creator>
  <cp:lastModifiedBy>O365 felhasználó</cp:lastModifiedBy>
  <cp:revision>51</cp:revision>
  <dcterms:created xsi:type="dcterms:W3CDTF">2026-01-07T20:40:53Z</dcterms:created>
  <dcterms:modified xsi:type="dcterms:W3CDTF">2026-05-13T20:10:21Z</dcterms:modified>
</cp:coreProperties>
</file>