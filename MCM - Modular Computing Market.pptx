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57" r:id="rId4"/>
    <p:sldId id="286" r:id="rId5"/>
    <p:sldId id="287" r:id="rId6"/>
    <p:sldId id="289" r:id="rId7"/>
    <p:sldId id="261" r:id="rId8"/>
    <p:sldId id="310" r:id="rId9"/>
    <p:sldId id="308" r:id="rId10"/>
    <p:sldId id="311" r:id="rId11"/>
    <p:sldId id="312" r:id="rId12"/>
    <p:sldId id="268" r:id="rId13"/>
    <p:sldId id="265" r:id="rId14"/>
    <p:sldId id="269" r:id="rId15"/>
    <p:sldId id="266" r:id="rId16"/>
    <p:sldId id="263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285" r:id="rId28"/>
  </p:sldIdLst>
  <p:sldSz cx="12192000" cy="6858000"/>
  <p:notesSz cx="6858000" cy="9144000"/>
  <p:embeddedFontLst>
    <p:embeddedFont>
      <p:font typeface="Avenir Next LT Pro Light" panose="020B0304020202020204" pitchFamily="34" charset="0"/>
      <p:regular r:id="rId30"/>
      <p:italic r:id="rId31"/>
    </p:embeddedFont>
    <p:embeddedFont>
      <p:font typeface="Play" panose="020B0604020202020204" charset="0"/>
      <p:regular r:id="rId32"/>
      <p:bold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4" roundtripDataSignature="AMtx7mhjnnOBueEcN0u1kZN0YBhiM5J5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2682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7" name="Google Shape;9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54364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030291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76758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Üres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tartalom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 tartalomrész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3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3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sak cím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3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3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3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dia" type="title">
  <p:cSld name="TITLE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3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40" name="Google Shape;40;p3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zakaszfejléc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3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46" name="Google Shape;46;p3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3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3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Összehasonlítás" type="twoTxTwoObj">
  <p:cSld name="TWO_OBJECTS_WITH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4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2" name="Google Shape;52;p4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4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4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4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4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rtalomrész képaláírással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4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4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4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4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4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ép képaláírással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4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4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4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4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4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ím és függőleges szöveg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4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4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4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4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üggőleges cím és szöveg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4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4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4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4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4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3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mailto:teszt@email.com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D52828B9-C42D-2869-C21F-E440C040B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ACE066F9-54B2-3048-BE27-67B114A61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3558" y="4940691"/>
            <a:ext cx="7093774" cy="1079620"/>
          </a:xfrm>
          <a:prstGeom prst="rect">
            <a:avLst/>
          </a:prstGeom>
        </p:spPr>
      </p:pic>
      <p:sp>
        <p:nvSpPr>
          <p:cNvPr id="92" name="Google Shape;92;p1"/>
          <p:cNvSpPr txBox="1">
            <a:spLocks noGrp="1"/>
          </p:cNvSpPr>
          <p:nvPr>
            <p:ph type="subTitle" idx="4294967295"/>
          </p:nvPr>
        </p:nvSpPr>
        <p:spPr>
          <a:xfrm>
            <a:off x="2854824" y="5042350"/>
            <a:ext cx="6482342" cy="87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>
              <a:spcBef>
                <a:spcPts val="0"/>
              </a:spcBef>
              <a:buNone/>
            </a:pPr>
            <a:r>
              <a:rPr lang="hu-HU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Kész</a:t>
            </a:r>
            <a:r>
              <a:rPr lang="en-US" dirty="0"/>
              <a:t>í</a:t>
            </a:r>
            <a:r>
              <a:rPr lang="hu-HU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tette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Bakk Hunor, Pásztor Simon, Halász  Marcell</a:t>
            </a:r>
            <a:endParaRPr dirty="0"/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6073136" y="-407994"/>
            <a:ext cx="45719" cy="92908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D348DFA5-ADE5-1477-108F-A4203D95C4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6545" y="1104645"/>
            <a:ext cx="7738909" cy="27046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D52828B9-C42D-2869-C21F-E440C040B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7862F552-D63E-8CAF-1BDD-F7E8028DA8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291" y="1415444"/>
            <a:ext cx="9306390" cy="4853718"/>
          </a:xfrm>
          <a:prstGeom prst="rect">
            <a:avLst/>
          </a:prstGeom>
        </p:spPr>
      </p:pic>
      <p:sp>
        <p:nvSpPr>
          <p:cNvPr id="110" name="Google Shape;110;p3"/>
          <p:cNvSpPr txBox="1">
            <a:spLocks noGrp="1"/>
          </p:cNvSpPr>
          <p:nvPr>
            <p:ph type="title"/>
          </p:nvPr>
        </p:nvSpPr>
        <p:spPr>
          <a:xfrm>
            <a:off x="4257015" y="233155"/>
            <a:ext cx="3646941" cy="846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800" dirty="0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Projekt </a:t>
            </a:r>
            <a:r>
              <a:rPr lang="en-US" sz="4800" dirty="0" err="1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tagok</a:t>
            </a:r>
            <a:endParaRPr sz="4800" dirty="0">
              <a:solidFill>
                <a:schemeClr val="tx1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3"/>
          <p:cNvSpPr txBox="1">
            <a:spLocks noGrp="1"/>
          </p:cNvSpPr>
          <p:nvPr>
            <p:ph type="body" idx="1"/>
          </p:nvPr>
        </p:nvSpPr>
        <p:spPr>
          <a:xfrm>
            <a:off x="1438921" y="1415443"/>
            <a:ext cx="9314143" cy="4853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indent="-457200">
              <a:lnSpc>
                <a:spcPct val="100000"/>
              </a:lnSpc>
              <a:buSzPts val="2700"/>
            </a:pPr>
            <a:r>
              <a:rPr lang="en-US" sz="3000" dirty="0">
                <a:latin typeface="Aptos" panose="020B0004020202020204" pitchFamily="34" charset="0"/>
                <a:sym typeface="Arial"/>
              </a:rPr>
              <a:t>Frontend – Bakk Hunor</a:t>
            </a:r>
            <a:endParaRPr lang="hu-HU" sz="3000" dirty="0">
              <a:latin typeface="Aptos" panose="020B0004020202020204" pitchFamily="34" charset="0"/>
              <a:sym typeface="Arial"/>
            </a:endParaRPr>
          </a:p>
          <a:p>
            <a:pPr marL="0" lvl="0" indent="0">
              <a:lnSpc>
                <a:spcPct val="100000"/>
              </a:lnSpc>
              <a:buSzPts val="2700"/>
              <a:buNone/>
            </a:pPr>
            <a:r>
              <a:rPr lang="en-US" sz="3000" dirty="0">
                <a:latin typeface="Aptos" panose="020B0004020202020204" pitchFamily="34" charset="0"/>
              </a:rPr>
              <a:t>Angular </a:t>
            </a:r>
            <a:r>
              <a:rPr lang="en-US" sz="3000" dirty="0" err="1">
                <a:latin typeface="Aptos" panose="020B0004020202020204" pitchFamily="34" charset="0"/>
              </a:rPr>
              <a:t>felhasználói</a:t>
            </a:r>
            <a:r>
              <a:rPr lang="en-US" sz="3000" dirty="0">
                <a:latin typeface="Aptos" panose="020B0004020202020204" pitchFamily="34" charset="0"/>
              </a:rPr>
              <a:t> </a:t>
            </a:r>
            <a:r>
              <a:rPr lang="en-US" sz="3000" dirty="0" err="1">
                <a:latin typeface="Aptos" panose="020B0004020202020204" pitchFamily="34" charset="0"/>
              </a:rPr>
              <a:t>felület</a:t>
            </a:r>
            <a:endParaRPr lang="hu-HU" sz="3000" dirty="0">
              <a:latin typeface="Aptos" panose="020B0004020202020204" pitchFamily="34" charset="0"/>
            </a:endParaRPr>
          </a:p>
          <a:p>
            <a:pPr marL="0" lvl="0" indent="0">
              <a:lnSpc>
                <a:spcPct val="100000"/>
              </a:lnSpc>
              <a:buSzPts val="2700"/>
              <a:buNone/>
            </a:pPr>
            <a:endParaRPr lang="en-US" sz="3000" dirty="0">
              <a:latin typeface="Aptos" panose="020B0004020202020204" pitchFamily="34" charset="0"/>
              <a:sym typeface="Arial"/>
            </a:endParaRPr>
          </a:p>
          <a:p>
            <a:pPr indent="-457200">
              <a:lnSpc>
                <a:spcPct val="100000"/>
              </a:lnSpc>
              <a:buSzPts val="2700"/>
            </a:pPr>
            <a:r>
              <a:rPr lang="en-US" sz="3000" dirty="0">
                <a:latin typeface="Aptos" panose="020B0004020202020204" pitchFamily="34" charset="0"/>
              </a:rPr>
              <a:t>Backend – P</a:t>
            </a:r>
            <a:r>
              <a:rPr lang="hu-HU" sz="3000" dirty="0">
                <a:latin typeface="Aptos" panose="020B0004020202020204" pitchFamily="34" charset="0"/>
              </a:rPr>
              <a:t>ásztor Simon</a:t>
            </a:r>
          </a:p>
          <a:p>
            <a:pPr marL="0" lvl="0" indent="0">
              <a:lnSpc>
                <a:spcPct val="100000"/>
              </a:lnSpc>
              <a:buSzPts val="2700"/>
              <a:buNone/>
            </a:pPr>
            <a:r>
              <a:rPr lang="en-US" sz="3000" dirty="0">
                <a:latin typeface="Aptos" panose="020B0004020202020204" pitchFamily="34" charset="0"/>
              </a:rPr>
              <a:t>REST API </a:t>
            </a:r>
            <a:r>
              <a:rPr lang="en-US" sz="3000" dirty="0" err="1">
                <a:latin typeface="Aptos" panose="020B0004020202020204" pitchFamily="34" charset="0"/>
              </a:rPr>
              <a:t>fejlesztés</a:t>
            </a:r>
            <a:endParaRPr lang="hu-HU" sz="3000" dirty="0">
              <a:latin typeface="Aptos" panose="020B0004020202020204" pitchFamily="34" charset="0"/>
            </a:endParaRPr>
          </a:p>
          <a:p>
            <a:pPr marL="0" lvl="0" indent="0">
              <a:lnSpc>
                <a:spcPct val="100000"/>
              </a:lnSpc>
              <a:buSzPts val="2700"/>
              <a:buNone/>
            </a:pPr>
            <a:endParaRPr lang="hu-HU" sz="3000" dirty="0">
              <a:latin typeface="Aptos" panose="020B0004020202020204" pitchFamily="34" charset="0"/>
              <a:sym typeface="Arial"/>
            </a:endParaRPr>
          </a:p>
          <a:p>
            <a:pPr indent="-457200">
              <a:lnSpc>
                <a:spcPct val="100000"/>
              </a:lnSpc>
              <a:buSzPts val="2700"/>
            </a:pPr>
            <a:r>
              <a:rPr lang="hu-HU" sz="3000" dirty="0">
                <a:latin typeface="Aptos" panose="020B0004020202020204" pitchFamily="34" charset="0"/>
                <a:sym typeface="Arial"/>
              </a:rPr>
              <a:t>Adatbázis </a:t>
            </a:r>
            <a:r>
              <a:rPr lang="en-US" sz="3000" dirty="0">
                <a:latin typeface="Aptos" panose="020B0004020202020204" pitchFamily="34" charset="0"/>
              </a:rPr>
              <a:t>–</a:t>
            </a:r>
            <a:r>
              <a:rPr lang="hu-HU" sz="3000" dirty="0">
                <a:latin typeface="Aptos" panose="020B0004020202020204" pitchFamily="34" charset="0"/>
              </a:rPr>
              <a:t> Halász Marcell</a:t>
            </a:r>
          </a:p>
          <a:p>
            <a:pPr marL="0" lvl="0" indent="0">
              <a:lnSpc>
                <a:spcPct val="100000"/>
              </a:lnSpc>
              <a:buSzPts val="2700"/>
              <a:buNone/>
            </a:pPr>
            <a:r>
              <a:rPr lang="en-US" sz="3000" dirty="0" err="1">
                <a:latin typeface="Aptos" panose="020B0004020202020204" pitchFamily="34" charset="0"/>
              </a:rPr>
              <a:t>Adatbázis</a:t>
            </a:r>
            <a:r>
              <a:rPr lang="en-US" sz="3000" dirty="0">
                <a:latin typeface="Aptos" panose="020B0004020202020204" pitchFamily="34" charset="0"/>
              </a:rPr>
              <a:t> </a:t>
            </a:r>
            <a:r>
              <a:rPr lang="en-US" sz="3000" dirty="0" err="1">
                <a:latin typeface="Aptos" panose="020B0004020202020204" pitchFamily="34" charset="0"/>
              </a:rPr>
              <a:t>tervezés</a:t>
            </a:r>
            <a:endParaRPr lang="hu-HU" sz="3000" dirty="0"/>
          </a:p>
          <a:p>
            <a:pPr marL="0" lvl="0" indent="0">
              <a:lnSpc>
                <a:spcPct val="100000"/>
              </a:lnSpc>
              <a:buSzPts val="2700"/>
              <a:buNone/>
            </a:pPr>
            <a:endParaRPr lang="en-US" sz="2700" dirty="0"/>
          </a:p>
        </p:txBody>
      </p:sp>
      <p:pic>
        <p:nvPicPr>
          <p:cNvPr id="7" name="Google Shape;114;p3">
            <a:extLst>
              <a:ext uri="{FF2B5EF4-FFF2-40B4-BE49-F238E27FC236}">
                <a16:creationId xmlns:a16="http://schemas.microsoft.com/office/drawing/2014/main" id="{984FE835-4251-32B6-222C-0E3AC8044C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6200000" flipH="1">
            <a:off x="6073133" y="3236409"/>
            <a:ext cx="45719" cy="660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4;p3">
            <a:extLst>
              <a:ext uri="{FF2B5EF4-FFF2-40B4-BE49-F238E27FC236}">
                <a16:creationId xmlns:a16="http://schemas.microsoft.com/office/drawing/2014/main" id="{E0456B5F-9B5C-2BA3-2AB1-8A8CE7D8CAD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6200000">
            <a:off x="6073141" y="-2224406"/>
            <a:ext cx="45719" cy="6608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">
            <a:extLst>
              <a:ext uri="{FF2B5EF4-FFF2-40B4-BE49-F238E27FC236}">
                <a16:creationId xmlns:a16="http://schemas.microsoft.com/office/drawing/2014/main" id="{D52828B9-C42D-2869-C21F-E440C040B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5514" y="0"/>
            <a:ext cx="12192000" cy="6858000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1F99C0A6-6EFA-0862-05EB-9F6C79952B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7291" y="1628209"/>
            <a:ext cx="9306390" cy="4301687"/>
          </a:xfrm>
          <a:prstGeom prst="rect">
            <a:avLst/>
          </a:prstGeom>
        </p:spPr>
      </p:pic>
      <p:sp>
        <p:nvSpPr>
          <p:cNvPr id="101" name="Google Shape;101;p2"/>
          <p:cNvSpPr txBox="1">
            <a:spLocks noGrp="1"/>
          </p:cNvSpPr>
          <p:nvPr>
            <p:ph type="title"/>
          </p:nvPr>
        </p:nvSpPr>
        <p:spPr>
          <a:xfrm>
            <a:off x="4075296" y="284932"/>
            <a:ext cx="4041401" cy="794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en-US" sz="4800" dirty="0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Projekt </a:t>
            </a:r>
            <a:r>
              <a:rPr lang="en-US" sz="4800" dirty="0" err="1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tém</a:t>
            </a:r>
            <a:r>
              <a:rPr lang="hu-HU" sz="4800" dirty="0" err="1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ája</a:t>
            </a:r>
            <a:endParaRPr sz="4800" dirty="0">
              <a:solidFill>
                <a:schemeClr val="tx1"/>
              </a:solidFill>
              <a:latin typeface="Aptos" panose="020B0004020202020204" pitchFamily="34" charset="0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 txBox="1">
            <a:spLocks noGrp="1"/>
          </p:cNvSpPr>
          <p:nvPr>
            <p:ph type="body" idx="1"/>
          </p:nvPr>
        </p:nvSpPr>
        <p:spPr>
          <a:xfrm>
            <a:off x="1427291" y="1628209"/>
            <a:ext cx="9306390" cy="42934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58775" lvl="0" indent="-35877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Wingdings" panose="05000000000000000000" pitchFamily="2" charset="2"/>
              <a:buChar char="§"/>
              <a:tabLst>
                <a:tab pos="984250" algn="l"/>
              </a:tabLst>
            </a:pPr>
            <a:r>
              <a:rPr lang="en-US" sz="3000" dirty="0" err="1">
                <a:solidFill>
                  <a:schemeClr val="tx1"/>
                </a:solidFill>
                <a:latin typeface="Aptos" panose="020B0004020202020204" pitchFamily="34" charset="0"/>
                <a:sym typeface="Arial"/>
              </a:rPr>
              <a:t>Projektünk</a:t>
            </a:r>
            <a:r>
              <a:rPr lang="en-US" sz="3000" dirty="0">
                <a:solidFill>
                  <a:schemeClr val="tx1"/>
                </a:solidFill>
                <a:latin typeface="Aptos" panose="020B0004020202020204" pitchFamily="34" charset="0"/>
              </a:rPr>
              <a:t> f</a:t>
            </a:r>
            <a:r>
              <a:rPr lang="hu-HU" sz="3000" dirty="0">
                <a:solidFill>
                  <a:schemeClr val="tx1"/>
                </a:solidFill>
                <a:latin typeface="Aptos" panose="020B0004020202020204" pitchFamily="34" charset="0"/>
              </a:rPr>
              <a:t>ő célja hogy létrehozzunk egy olyan webshopot, ahol a vásárló kedve szerint tud vásárolni hardvert, kulcsot vagy ajándékkártyát</a:t>
            </a:r>
            <a:r>
              <a:rPr lang="en-US" sz="3000" dirty="0">
                <a:solidFill>
                  <a:schemeClr val="tx1"/>
                </a:solidFill>
                <a:latin typeface="Aptos" panose="020B0004020202020204" pitchFamily="34" charset="0"/>
                <a:sym typeface="Arial"/>
              </a:rPr>
              <a:t>.</a:t>
            </a:r>
            <a:endParaRPr lang="hu-HU" sz="3000" dirty="0">
              <a:solidFill>
                <a:schemeClr val="tx1"/>
              </a:solidFill>
              <a:latin typeface="Aptos" panose="020B0004020202020204" pitchFamily="34" charset="0"/>
              <a:sym typeface="Arial"/>
            </a:endParaRPr>
          </a:p>
          <a:p>
            <a:pPr marL="358775" lvl="0" indent="-358775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tabLst>
                <a:tab pos="984250" algn="l"/>
              </a:tabLst>
            </a:pPr>
            <a:endParaRPr sz="3000" dirty="0">
              <a:solidFill>
                <a:schemeClr val="tx1"/>
              </a:solidFill>
              <a:latin typeface="Aptos" panose="020B0004020202020204" pitchFamily="34" charset="0"/>
              <a:sym typeface="Arial"/>
            </a:endParaRPr>
          </a:p>
          <a:p>
            <a:pPr marL="358775" lvl="0" indent="-358775" algn="just">
              <a:buSzPts val="2500"/>
              <a:buFont typeface="Wingdings" panose="05000000000000000000" pitchFamily="2" charset="2"/>
              <a:buChar char="§"/>
              <a:tabLst>
                <a:tab pos="984250" algn="l"/>
              </a:tabLst>
            </a:pPr>
            <a:r>
              <a:rPr lang="hu-HU" sz="3000" dirty="0"/>
              <a:t>Digitális termékek (kulcsok) - fiók nélkül</a:t>
            </a:r>
          </a:p>
          <a:p>
            <a:pPr marL="358775" lvl="0" indent="-358775" algn="just">
              <a:buSzPts val="2500"/>
              <a:buFont typeface="Wingdings" panose="05000000000000000000" pitchFamily="2" charset="2"/>
              <a:buChar char="§"/>
              <a:tabLst>
                <a:tab pos="984250" algn="l"/>
              </a:tabLst>
            </a:pPr>
            <a:endParaRPr lang="hu-HU" sz="3000" dirty="0"/>
          </a:p>
          <a:p>
            <a:pPr marL="358775" lvl="0" indent="-358775" algn="just">
              <a:buSzPts val="2500"/>
              <a:buFont typeface="Wingdings" panose="05000000000000000000" pitchFamily="2" charset="2"/>
              <a:buChar char="§"/>
              <a:tabLst>
                <a:tab pos="984250" algn="l"/>
              </a:tabLst>
            </a:pPr>
            <a:endParaRPr lang="hu-HU" sz="3000" dirty="0"/>
          </a:p>
          <a:p>
            <a:pPr marL="358775" lvl="0" indent="-358775" algn="just">
              <a:buSzPts val="2500"/>
              <a:buFont typeface="Wingdings" panose="05000000000000000000" pitchFamily="2" charset="2"/>
              <a:buChar char="§"/>
              <a:tabLst>
                <a:tab pos="984250" algn="l"/>
              </a:tabLst>
            </a:pPr>
            <a:r>
              <a:rPr lang="hu-HU" sz="3000" dirty="0"/>
              <a:t> Hardver vásárlás - profil szükséges</a:t>
            </a:r>
            <a:endParaRPr lang="en-US" sz="3000" dirty="0">
              <a:solidFill>
                <a:schemeClr val="tx1"/>
              </a:solidFill>
              <a:latin typeface="Aptos" panose="020B0004020202020204" pitchFamily="34" charset="0"/>
              <a:sym typeface="Arial"/>
            </a:endParaRPr>
          </a:p>
        </p:txBody>
      </p:sp>
      <p:pic>
        <p:nvPicPr>
          <p:cNvPr id="7" name="Google Shape;114;p3">
            <a:extLst>
              <a:ext uri="{FF2B5EF4-FFF2-40B4-BE49-F238E27FC236}">
                <a16:creationId xmlns:a16="http://schemas.microsoft.com/office/drawing/2014/main" id="{984FE835-4251-32B6-222C-0E3AC8044CCD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6200000" flipH="1">
            <a:off x="6073138" y="3156994"/>
            <a:ext cx="45719" cy="660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4;p3">
            <a:extLst>
              <a:ext uri="{FF2B5EF4-FFF2-40B4-BE49-F238E27FC236}">
                <a16:creationId xmlns:a16="http://schemas.microsoft.com/office/drawing/2014/main" id="{E0456B5F-9B5C-2BA3-2AB1-8A8CE7D8CADC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16200000">
            <a:off x="6073141" y="-2224406"/>
            <a:ext cx="45719" cy="66086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8742BB70-486A-6F98-40B5-1982C5719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1" y="0"/>
            <a:ext cx="12192000" cy="68580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88494D59-CFAE-B2AD-ED24-5F0596D4C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443" y="1489811"/>
            <a:ext cx="9404073" cy="4660004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3EC5068A-3B16-6EBD-6582-C626967E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3861" y="270574"/>
            <a:ext cx="4744276" cy="595626"/>
          </a:xfrm>
        </p:spPr>
        <p:txBody>
          <a:bodyPr>
            <a:noAutofit/>
          </a:bodyPr>
          <a:lstStyle/>
          <a:p>
            <a:r>
              <a:rPr lang="hu-HU" sz="4800" dirty="0">
                <a:solidFill>
                  <a:schemeClr val="tx1"/>
                </a:solidFill>
                <a:latin typeface="Aptos" panose="020B0004020202020204" pitchFamily="34" charset="0"/>
              </a:rPr>
              <a:t>Amit használtam</a:t>
            </a:r>
            <a:endParaRPr lang="en-US" sz="48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D30DB06-33F4-4735-AAE8-C98875DD5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93962" y="1489811"/>
            <a:ext cx="4709659" cy="4660004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b="1" dirty="0">
                <a:latin typeface="Aptos" panose="020B0004020202020204" pitchFamily="34" charset="0"/>
              </a:rPr>
              <a:t>Frontend </a:t>
            </a:r>
            <a:r>
              <a:rPr lang="en-US" b="1" dirty="0" err="1">
                <a:latin typeface="Aptos" panose="020B0004020202020204" pitchFamily="34" charset="0"/>
              </a:rPr>
              <a:t>technológiák</a:t>
            </a:r>
            <a:r>
              <a:rPr lang="hu-HU" b="1" dirty="0">
                <a:latin typeface="Aptos" panose="020B0004020202020204" pitchFamily="34" charset="0"/>
              </a:rPr>
              <a:t>:</a:t>
            </a:r>
            <a:endParaRPr lang="en-US" b="1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Angular</a:t>
            </a:r>
            <a:endParaRPr lang="hu-HU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ptos" panose="020B0004020202020204" pitchFamily="34" charset="0"/>
              </a:rPr>
              <a:t>TypeScript</a:t>
            </a:r>
            <a:endParaRPr lang="hu-HU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HTML5 </a:t>
            </a:r>
            <a:endParaRPr lang="hu-HU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hu-HU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CSS3 design</a:t>
            </a:r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88EBDAF6-550A-24FB-685A-2A7A51DAC2B0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132360" y="1482215"/>
            <a:ext cx="4671554" cy="4660004"/>
          </a:xfrm>
        </p:spPr>
        <p:txBody>
          <a:bodyPr/>
          <a:lstStyle/>
          <a:p>
            <a:pPr marL="114300" indent="0">
              <a:buNone/>
            </a:pPr>
            <a:r>
              <a:rPr lang="en-US" b="1" dirty="0">
                <a:latin typeface="Aptos" panose="020B0004020202020204" pitchFamily="34" charset="0"/>
              </a:rPr>
              <a:t>Tov</a:t>
            </a:r>
            <a:r>
              <a:rPr lang="hu-HU" b="1" dirty="0" err="1">
                <a:latin typeface="Aptos" panose="020B0004020202020204" pitchFamily="34" charset="0"/>
              </a:rPr>
              <a:t>ábbi</a:t>
            </a:r>
            <a:r>
              <a:rPr lang="hu-HU" b="1" dirty="0">
                <a:latin typeface="Aptos" panose="020B0004020202020204" pitchFamily="34" charset="0"/>
              </a:rPr>
              <a:t> </a:t>
            </a:r>
            <a:r>
              <a:rPr lang="en-US" b="1" dirty="0" err="1">
                <a:latin typeface="Aptos" panose="020B0004020202020204" pitchFamily="34" charset="0"/>
              </a:rPr>
              <a:t>programok</a:t>
            </a:r>
            <a:r>
              <a:rPr lang="hu-HU" b="1" dirty="0">
                <a:latin typeface="Aptos" panose="020B0004020202020204" pitchFamily="34" charset="0"/>
              </a:rPr>
              <a:t>:</a:t>
            </a:r>
            <a:endParaRPr lang="en-US" b="1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Visual Studio </a:t>
            </a:r>
            <a:endParaRPr lang="hu-HU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hu-HU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Google Chrome </a:t>
            </a:r>
            <a:endParaRPr lang="hu-HU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hu-HU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Aptos" panose="020B0004020202020204" pitchFamily="34" charset="0"/>
              </a:rPr>
              <a:t>Chrome </a:t>
            </a:r>
            <a:r>
              <a:rPr lang="en-US" dirty="0" err="1">
                <a:latin typeface="Aptos" panose="020B0004020202020204" pitchFamily="34" charset="0"/>
              </a:rPr>
              <a:t>DevTools</a:t>
            </a:r>
            <a:r>
              <a:rPr lang="hu-HU" dirty="0">
                <a:latin typeface="Aptos" panose="020B0004020202020204" pitchFamily="34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hu-HU" dirty="0">
              <a:latin typeface="Aptos" panose="020B00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Aptos" panose="020B0004020202020204" pitchFamily="34" charset="0"/>
              </a:rPr>
              <a:t>Git</a:t>
            </a:r>
            <a:r>
              <a:rPr lang="hu-HU" dirty="0" err="1">
                <a:latin typeface="Aptos" panose="020B0004020202020204" pitchFamily="34" charset="0"/>
              </a:rPr>
              <a:t>hub</a:t>
            </a:r>
            <a:endParaRPr lang="en-US" dirty="0"/>
          </a:p>
        </p:txBody>
      </p:sp>
      <p:pic>
        <p:nvPicPr>
          <p:cNvPr id="9" name="Ábra 8">
            <a:extLst>
              <a:ext uri="{FF2B5EF4-FFF2-40B4-BE49-F238E27FC236}">
                <a16:creationId xmlns:a16="http://schemas.microsoft.com/office/drawing/2014/main" id="{27487EA8-8D76-F56B-94C9-F35F9F203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93557" y="2102549"/>
            <a:ext cx="1298443" cy="1326451"/>
          </a:xfrm>
          <a:prstGeom prst="rect">
            <a:avLst/>
          </a:prstGeom>
        </p:spPr>
      </p:pic>
      <p:pic>
        <p:nvPicPr>
          <p:cNvPr id="8" name="Google Shape;114;p3">
            <a:extLst>
              <a:ext uri="{FF2B5EF4-FFF2-40B4-BE49-F238E27FC236}">
                <a16:creationId xmlns:a16="http://schemas.microsoft.com/office/drawing/2014/main" id="{E703318A-4631-F240-D8C5-26B7EB8B19A9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073138" y="1556771"/>
            <a:ext cx="45719" cy="4526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Kép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959" y="3871813"/>
            <a:ext cx="1220199" cy="1220199"/>
          </a:xfrm>
          <a:prstGeom prst="rect">
            <a:avLst/>
          </a:prstGeom>
        </p:spPr>
      </p:pic>
      <p:pic>
        <p:nvPicPr>
          <p:cNvPr id="10" name="Kép 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4" y="2102549"/>
            <a:ext cx="1387483" cy="1387483"/>
          </a:xfrm>
          <a:prstGeom prst="rect">
            <a:avLst/>
          </a:prstGeom>
        </p:spPr>
      </p:pic>
      <p:pic>
        <p:nvPicPr>
          <p:cNvPr id="13" name="Google Shape;114;p3">
            <a:extLst>
              <a:ext uri="{FF2B5EF4-FFF2-40B4-BE49-F238E27FC236}">
                <a16:creationId xmlns:a16="http://schemas.microsoft.com/office/drawing/2014/main" id="{E0456B5F-9B5C-2BA3-2AB1-8A8CE7D8CAD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6200000">
            <a:off x="6073141" y="-2224406"/>
            <a:ext cx="45719" cy="6608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Kép 14">
            <a:extLst>
              <a:ext uri="{FF2B5EF4-FFF2-40B4-BE49-F238E27FC236}">
                <a16:creationId xmlns:a16="http://schemas.microsoft.com/office/drawing/2014/main" id="{47E4DBAB-EE3E-A6FA-B09A-5ED3773221E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09069" y="3871813"/>
            <a:ext cx="983445" cy="1389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941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CBA1F86A-FC29-1714-968A-8D3DAA6E8C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pic>
        <p:nvPicPr>
          <p:cNvPr id="2" name="Kép 1">
            <a:extLst>
              <a:ext uri="{FF2B5EF4-FFF2-40B4-BE49-F238E27FC236}">
                <a16:creationId xmlns:a16="http://schemas.microsoft.com/office/drawing/2014/main" id="{6E5759F6-27AB-B50C-5387-949AC8941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201" y="1205603"/>
            <a:ext cx="6018535" cy="5363437"/>
          </a:xfrm>
          <a:prstGeom prst="rect">
            <a:avLst/>
          </a:prstGeom>
        </p:spPr>
      </p:pic>
      <p:sp>
        <p:nvSpPr>
          <p:cNvPr id="12" name="Szöveg helye 11">
            <a:extLst>
              <a:ext uri="{FF2B5EF4-FFF2-40B4-BE49-F238E27FC236}">
                <a16:creationId xmlns:a16="http://schemas.microsoft.com/office/drawing/2014/main" id="{82BE4140-47F5-53BF-CF7E-E827D8B5A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0201" y="1064440"/>
            <a:ext cx="6125794" cy="5135526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u-HU" sz="3000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Features</a:t>
            </a:r>
            <a:r>
              <a:rPr lang="hu-HU" sz="3000" b="1" dirty="0">
                <a:latin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hu-HU" sz="30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hu-HU" sz="3000" dirty="0">
                <a:latin typeface="Aptos" panose="020B0004020202020204" pitchFamily="34" charset="0"/>
                <a:cs typeface="Times New Roman" panose="02020603050405020304" pitchFamily="18" charset="0"/>
              </a:rPr>
              <a:t>Az alkalmazás fő funkciói külön modulokban 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u-HU" sz="3000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Shared</a:t>
            </a:r>
            <a:r>
              <a:rPr lang="hu-HU" sz="3000" b="1" dirty="0">
                <a:latin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hu-HU" sz="30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hu-HU" sz="3000" dirty="0" err="1">
                <a:latin typeface="Aptos" panose="020B0004020202020204" pitchFamily="34" charset="0"/>
                <a:cs typeface="Times New Roman" panose="02020603050405020304" pitchFamily="18" charset="0"/>
              </a:rPr>
              <a:t>Újrahasználható</a:t>
            </a:r>
            <a:r>
              <a:rPr lang="hu-HU" sz="3000" dirty="0">
                <a:latin typeface="Aptos" panose="020B0004020202020204" pitchFamily="34" charset="0"/>
                <a:cs typeface="Times New Roman" panose="02020603050405020304" pitchFamily="18" charset="0"/>
              </a:rPr>
              <a:t> komponensek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u-HU" sz="3000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Models</a:t>
            </a:r>
            <a:r>
              <a:rPr lang="hu-HU" sz="3000" b="1" dirty="0">
                <a:latin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hu-HU" sz="30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hu-HU" sz="3000" dirty="0">
                <a:latin typeface="Aptos" panose="020B0004020202020204" pitchFamily="34" charset="0"/>
                <a:cs typeface="Times New Roman" panose="02020603050405020304" pitchFamily="18" charset="0"/>
              </a:rPr>
              <a:t>Az alkalmazás adatstruktúrái</a:t>
            </a:r>
          </a:p>
          <a:p>
            <a:pPr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hu-HU" sz="3000" b="1" dirty="0" err="1">
                <a:latin typeface="Aptos" panose="020B0004020202020204" pitchFamily="34" charset="0"/>
                <a:cs typeface="Times New Roman" panose="02020603050405020304" pitchFamily="18" charset="0"/>
              </a:rPr>
              <a:t>Assets</a:t>
            </a:r>
            <a:r>
              <a:rPr lang="hu-HU" sz="3000" b="1" dirty="0">
                <a:latin typeface="Aptos" panose="020B0004020202020204" pitchFamily="34" charset="0"/>
                <a:cs typeface="Times New Roman" panose="02020603050405020304" pitchFamily="18" charset="0"/>
              </a:rPr>
              <a:t>:</a:t>
            </a:r>
            <a:br>
              <a:rPr lang="hu-HU" sz="3000" dirty="0">
                <a:latin typeface="Aptos" panose="020B0004020202020204" pitchFamily="34" charset="0"/>
                <a:cs typeface="Times New Roman" panose="02020603050405020304" pitchFamily="18" charset="0"/>
              </a:rPr>
            </a:br>
            <a:r>
              <a:rPr lang="hu-HU" sz="3000" dirty="0">
                <a:latin typeface="Aptos" panose="020B0004020202020204" pitchFamily="34" charset="0"/>
                <a:cs typeface="Times New Roman" panose="02020603050405020304" pitchFamily="18" charset="0"/>
              </a:rPr>
              <a:t>Képek és ikonok.</a:t>
            </a:r>
          </a:p>
        </p:txBody>
      </p:sp>
      <p:sp>
        <p:nvSpPr>
          <p:cNvPr id="11" name="Cím 10">
            <a:extLst>
              <a:ext uri="{FF2B5EF4-FFF2-40B4-BE49-F238E27FC236}">
                <a16:creationId xmlns:a16="http://schemas.microsoft.com/office/drawing/2014/main" id="{0428B812-C8F8-5B11-8E11-FA06A4E8A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8359" y="218984"/>
            <a:ext cx="4462217" cy="626472"/>
          </a:xfrm>
        </p:spPr>
        <p:txBody>
          <a:bodyPr>
            <a:noAutofit/>
          </a:bodyPr>
          <a:lstStyle/>
          <a:p>
            <a:r>
              <a:rPr lang="hu-HU" sz="4800" dirty="0">
                <a:latin typeface="Aptos" panose="020B0004020202020204" pitchFamily="34" charset="0"/>
                <a:ea typeface="ADLaM Display" panose="020F0502020204030204" pitchFamily="2" charset="0"/>
                <a:cs typeface="ADLaM Display" panose="020F0502020204030204" pitchFamily="2" charset="0"/>
              </a:rPr>
              <a:t>Mappastruktúra</a:t>
            </a:r>
            <a:endParaRPr lang="en-US" sz="4800" dirty="0">
              <a:latin typeface="Aptos" panose="020B0004020202020204" pitchFamily="34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4" name="Google Shape;114;p3">
            <a:extLst>
              <a:ext uri="{FF2B5EF4-FFF2-40B4-BE49-F238E27FC236}">
                <a16:creationId xmlns:a16="http://schemas.microsoft.com/office/drawing/2014/main" id="{DBBB081D-A504-B9E5-16FC-BEE7F5D90A4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>
            <a:off x="3446610" y="-1906470"/>
            <a:ext cx="45719" cy="6018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Kép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74220" y="626047"/>
            <a:ext cx="3522296" cy="5831917"/>
          </a:xfrm>
          <a:prstGeom prst="rect">
            <a:avLst/>
          </a:prstGeom>
        </p:spPr>
      </p:pic>
      <p:pic>
        <p:nvPicPr>
          <p:cNvPr id="8" name="Google Shape;114;p3">
            <a:extLst>
              <a:ext uri="{FF2B5EF4-FFF2-40B4-BE49-F238E27FC236}">
                <a16:creationId xmlns:a16="http://schemas.microsoft.com/office/drawing/2014/main" id="{DBBB081D-A504-B9E5-16FC-BEE7F5D90A4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 rot="-5400000" flipH="1">
            <a:off x="3446609" y="3662576"/>
            <a:ext cx="45719" cy="60185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0775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E1B4CA9E-7100-CEF1-0944-835B247272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8" y="0"/>
            <a:ext cx="12192000" cy="6858000"/>
          </a:xfrm>
          <a:prstGeom prst="rect">
            <a:avLst/>
          </a:prstGeom>
        </p:spPr>
      </p:pic>
      <p:pic>
        <p:nvPicPr>
          <p:cNvPr id="20" name="Kép 19">
            <a:extLst>
              <a:ext uri="{FF2B5EF4-FFF2-40B4-BE49-F238E27FC236}">
                <a16:creationId xmlns:a16="http://schemas.microsoft.com/office/drawing/2014/main" id="{0A2E843D-B9DC-BDE0-93F4-B665A1B749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434" y="2794404"/>
            <a:ext cx="3502239" cy="19524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3AAEE10-8989-E433-5275-CB1026A5E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5959" y="188052"/>
            <a:ext cx="3140075" cy="682074"/>
          </a:xfrm>
        </p:spPr>
        <p:txBody>
          <a:bodyPr>
            <a:noAutofit/>
          </a:bodyPr>
          <a:lstStyle/>
          <a:p>
            <a:r>
              <a:rPr lang="hu-HU" sz="4800" dirty="0" err="1">
                <a:latin typeface="Aptos" panose="020B0004020202020204" pitchFamily="34" charset="0"/>
              </a:rPr>
              <a:t>App</a:t>
            </a:r>
            <a:r>
              <a:rPr lang="hu-HU" sz="4800" dirty="0">
                <a:latin typeface="Aptos" panose="020B0004020202020204" pitchFamily="34" charset="0"/>
              </a:rPr>
              <a:t> </a:t>
            </a:r>
            <a:r>
              <a:rPr lang="hu-HU" sz="4800" dirty="0" err="1">
                <a:latin typeface="Aptos" panose="020B0004020202020204" pitchFamily="34" charset="0"/>
              </a:rPr>
              <a:t>routes</a:t>
            </a:r>
            <a:endParaRPr lang="en-US" sz="4800" dirty="0">
              <a:latin typeface="Aptos" panose="020B0004020202020204" pitchFamily="34" charset="0"/>
            </a:endParaRPr>
          </a:p>
        </p:txBody>
      </p:sp>
      <p:sp>
        <p:nvSpPr>
          <p:cNvPr id="7" name="Szöveg helye 6">
            <a:extLst>
              <a:ext uri="{FF2B5EF4-FFF2-40B4-BE49-F238E27FC236}">
                <a16:creationId xmlns:a16="http://schemas.microsoft.com/office/drawing/2014/main" id="{EEF95B18-8A53-2650-7F0F-07F4DAD97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9434" y="2794404"/>
            <a:ext cx="3502239" cy="195240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000" dirty="0"/>
              <a:t>Angular Router </a:t>
            </a:r>
            <a:r>
              <a:rPr lang="en-US" sz="3000" dirty="0" err="1">
                <a:latin typeface="Aptos" panose="020B0004020202020204"/>
              </a:rPr>
              <a:t>kezeli</a:t>
            </a:r>
            <a:r>
              <a:rPr lang="en-US" sz="3000" dirty="0"/>
              <a:t> </a:t>
            </a:r>
            <a:r>
              <a:rPr lang="en-US" sz="3000" dirty="0" err="1"/>
              <a:t>az</a:t>
            </a:r>
            <a:r>
              <a:rPr lang="en-US" sz="3000" dirty="0"/>
              <a:t> </a:t>
            </a:r>
            <a:r>
              <a:rPr lang="en-US" sz="3000" dirty="0" err="1"/>
              <a:t>alkalmazás</a:t>
            </a:r>
            <a:r>
              <a:rPr lang="en-US" sz="3000" dirty="0"/>
              <a:t> </a:t>
            </a:r>
            <a:r>
              <a:rPr lang="en-US" sz="3000" dirty="0" err="1"/>
              <a:t>navigációját</a:t>
            </a:r>
            <a:r>
              <a:rPr lang="en-US" sz="3000" dirty="0"/>
              <a:t>.</a:t>
            </a:r>
            <a:endParaRPr lang="en-US" sz="3000" dirty="0">
              <a:latin typeface="Aptos" panose="020B0004020202020204" pitchFamily="34" charset="0"/>
            </a:endParaRPr>
          </a:p>
        </p:txBody>
      </p:sp>
      <p:pic>
        <p:nvPicPr>
          <p:cNvPr id="3" name="Kép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98279" y="1415443"/>
            <a:ext cx="7164287" cy="4714774"/>
          </a:xfrm>
          <a:prstGeom prst="rect">
            <a:avLst/>
          </a:prstGeom>
        </p:spPr>
      </p:pic>
      <p:pic>
        <p:nvPicPr>
          <p:cNvPr id="11" name="Google Shape;114;p3">
            <a:extLst>
              <a:ext uri="{FF2B5EF4-FFF2-40B4-BE49-F238E27FC236}">
                <a16:creationId xmlns:a16="http://schemas.microsoft.com/office/drawing/2014/main" id="{E0456B5F-9B5C-2BA3-2AB1-8A8CE7D8CAD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6200000">
            <a:off x="6073141" y="-2224406"/>
            <a:ext cx="45719" cy="6608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14;p3">
            <a:extLst>
              <a:ext uri="{FF2B5EF4-FFF2-40B4-BE49-F238E27FC236}">
                <a16:creationId xmlns:a16="http://schemas.microsoft.com/office/drawing/2014/main" id="{984FE835-4251-32B6-222C-0E3AC8044CC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6200000" flipH="1">
            <a:off x="6073138" y="3156994"/>
            <a:ext cx="45719" cy="66086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385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Kép 19">
            <a:extLst>
              <a:ext uri="{FF2B5EF4-FFF2-40B4-BE49-F238E27FC236}">
                <a16:creationId xmlns:a16="http://schemas.microsoft.com/office/drawing/2014/main" id="{0916FD2A-7D57-CCEA-D713-4200095BAD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Cím 9">
            <a:extLst>
              <a:ext uri="{FF2B5EF4-FFF2-40B4-BE49-F238E27FC236}">
                <a16:creationId xmlns:a16="http://schemas.microsoft.com/office/drawing/2014/main" id="{ECB54ACE-1D2C-901B-8874-09093ED7B30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979715" y="177678"/>
            <a:ext cx="4232564" cy="7016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>
                <a:latin typeface="Aptos" panose="020B0004020202020204" pitchFamily="34" charset="0"/>
              </a:rPr>
              <a:t>Kosár </a:t>
            </a:r>
            <a:r>
              <a:rPr lang="en-US" dirty="0">
                <a:latin typeface="Aptos" panose="020B0004020202020204" pitchFamily="34" charset="0"/>
              </a:rPr>
              <a:t>+</a:t>
            </a:r>
            <a:r>
              <a:rPr lang="hu-HU" dirty="0">
                <a:latin typeface="Aptos" panose="020B0004020202020204" pitchFamily="34" charset="0"/>
              </a:rPr>
              <a:t> Pénztár</a:t>
            </a:r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559FC6A-CE66-A596-1D5C-6FACC32EC07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9007"/>
          <a:stretch/>
        </p:blipFill>
        <p:spPr>
          <a:xfrm>
            <a:off x="9259144" y="1429864"/>
            <a:ext cx="2455017" cy="4763118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1FE4D64E-9FEB-2379-6952-8DA1E0046D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042" y="1429864"/>
            <a:ext cx="8241263" cy="4763118"/>
          </a:xfrm>
          <a:prstGeom prst="rect">
            <a:avLst/>
          </a:prstGeom>
        </p:spPr>
      </p:pic>
      <p:pic>
        <p:nvPicPr>
          <p:cNvPr id="22" name="Google Shape;114;p3">
            <a:extLst>
              <a:ext uri="{FF2B5EF4-FFF2-40B4-BE49-F238E27FC236}">
                <a16:creationId xmlns:a16="http://schemas.microsoft.com/office/drawing/2014/main" id="{E0456B5F-9B5C-2BA3-2AB1-8A8CE7D8CAD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-5400000">
            <a:off x="6073141" y="-2224406"/>
            <a:ext cx="45719" cy="6608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4;p3">
            <a:extLst>
              <a:ext uri="{FF2B5EF4-FFF2-40B4-BE49-F238E27FC236}">
                <a16:creationId xmlns:a16="http://schemas.microsoft.com/office/drawing/2014/main" id="{984FE835-4251-32B6-222C-0E3AC8044CCD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 rot="16200000" flipH="1">
            <a:off x="6073141" y="3175461"/>
            <a:ext cx="45719" cy="66086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C272713D-0EB1-1309-B824-EFD4AEF23E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Kép 2">
            <a:extLst>
              <a:ext uri="{FF2B5EF4-FFF2-40B4-BE49-F238E27FC236}">
                <a16:creationId xmlns:a16="http://schemas.microsoft.com/office/drawing/2014/main" id="{084DA5AF-820A-CBDF-F17B-2FC6F0C657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51" y="1414092"/>
            <a:ext cx="4607131" cy="1278481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01662BBA-749B-6DFF-FD4B-9683A6D7B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7304" y="152754"/>
            <a:ext cx="4197385" cy="782319"/>
          </a:xfrm>
        </p:spPr>
        <p:txBody>
          <a:bodyPr/>
          <a:lstStyle/>
          <a:p>
            <a:r>
              <a:rPr lang="hu-HU" dirty="0">
                <a:latin typeface="Aptos" panose="020B0004020202020204" pitchFamily="34" charset="0"/>
              </a:rPr>
              <a:t>Felugró ablakok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0" name="Szöveg helye 9">
            <a:extLst>
              <a:ext uri="{FF2B5EF4-FFF2-40B4-BE49-F238E27FC236}">
                <a16:creationId xmlns:a16="http://schemas.microsoft.com/office/drawing/2014/main" id="{26180384-23B1-C11D-C0D9-DBB5C873A6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31152" y="1414092"/>
            <a:ext cx="4607130" cy="1278481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dirty="0">
                <a:latin typeface="Aptos" panose="020B0004020202020204" pitchFamily="34" charset="0"/>
              </a:rPr>
              <a:t>A </a:t>
            </a:r>
            <a:r>
              <a:rPr lang="en-US" sz="3200" dirty="0" err="1">
                <a:latin typeface="Aptos" panose="020B0004020202020204" pitchFamily="34" charset="0"/>
              </a:rPr>
              <a:t>weboldalon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hu-HU" sz="3200" dirty="0">
                <a:latin typeface="Aptos" panose="020B0004020202020204" pitchFamily="34" charset="0"/>
              </a:rPr>
              <a:t>modális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ablakokat</a:t>
            </a:r>
            <a:r>
              <a:rPr lang="en-US" sz="3200" dirty="0">
                <a:latin typeface="Aptos" panose="020B0004020202020204" pitchFamily="34" charset="0"/>
              </a:rPr>
              <a:t> </a:t>
            </a:r>
            <a:r>
              <a:rPr lang="en-US" sz="3200" dirty="0" err="1">
                <a:latin typeface="Aptos" panose="020B0004020202020204" pitchFamily="34" charset="0"/>
              </a:rPr>
              <a:t>használ</a:t>
            </a:r>
            <a:r>
              <a:rPr lang="hu-HU" sz="3200" dirty="0" err="1">
                <a:latin typeface="Aptos" panose="020B0004020202020204" pitchFamily="34" charset="0"/>
              </a:rPr>
              <a:t>unk</a:t>
            </a:r>
            <a:r>
              <a:rPr lang="hu-HU" sz="3200" dirty="0">
                <a:latin typeface="Aptos" panose="020B0004020202020204" pitchFamily="34" charset="0"/>
              </a:rPr>
              <a:t>.</a:t>
            </a:r>
            <a:endParaRPr lang="en-US" sz="3200" dirty="0">
              <a:latin typeface="Aptos" panose="020B0004020202020204" pitchFamily="34" charset="0"/>
            </a:endParaRP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C072D77A-8313-554A-3BD5-16EA5BE285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587" y="3212506"/>
            <a:ext cx="4955196" cy="1905844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A22D3E83-4F16-683A-F554-55CB86505E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1734" y="3982821"/>
            <a:ext cx="4615723" cy="2287932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0458F181-D1AD-A363-05E0-CF23E6C7F2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1240" y="1467672"/>
            <a:ext cx="5427697" cy="2080617"/>
          </a:xfrm>
          <a:prstGeom prst="rect">
            <a:avLst/>
          </a:prstGeom>
        </p:spPr>
      </p:pic>
      <p:pic>
        <p:nvPicPr>
          <p:cNvPr id="13" name="Google Shape;114;p3">
            <a:extLst>
              <a:ext uri="{FF2B5EF4-FFF2-40B4-BE49-F238E27FC236}">
                <a16:creationId xmlns:a16="http://schemas.microsoft.com/office/drawing/2014/main" id="{E0456B5F-9B5C-2BA3-2AB1-8A8CE7D8CADC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6200000">
            <a:off x="6073141" y="-2224406"/>
            <a:ext cx="45719" cy="6608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14;p3">
            <a:extLst>
              <a:ext uri="{FF2B5EF4-FFF2-40B4-BE49-F238E27FC236}">
                <a16:creationId xmlns:a16="http://schemas.microsoft.com/office/drawing/2014/main" id="{984FE835-4251-32B6-222C-0E3AC8044CCD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16200000" flipH="1">
            <a:off x="6073138" y="3156994"/>
            <a:ext cx="45719" cy="660862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6940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A5718577-C218-7219-50FB-FC5FBD55C9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490" y="1338"/>
            <a:ext cx="12192000" cy="6858000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95BC1557-A4AE-97B0-70EB-FE98C04FC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7291" y="1628209"/>
            <a:ext cx="9306390" cy="4301687"/>
          </a:xfrm>
          <a:prstGeom prst="rect">
            <a:avLst/>
          </a:prstGeom>
        </p:spPr>
      </p:pic>
      <p:sp>
        <p:nvSpPr>
          <p:cNvPr id="12" name="Szöveg helye 11"/>
          <p:cNvSpPr>
            <a:spLocks noGrp="1"/>
          </p:cNvSpPr>
          <p:nvPr>
            <p:ph type="body" idx="1"/>
          </p:nvPr>
        </p:nvSpPr>
        <p:spPr>
          <a:xfrm>
            <a:off x="1427291" y="1628209"/>
            <a:ext cx="9306390" cy="4301687"/>
          </a:xfrm>
        </p:spPr>
        <p:txBody>
          <a:bodyPr>
            <a:normAutofit/>
          </a:bodyPr>
          <a:lstStyle/>
          <a:p>
            <a:r>
              <a:rPr lang="hu-HU" sz="3000" dirty="0"/>
              <a:t>Valódi fizetési rendszer</a:t>
            </a:r>
          </a:p>
          <a:p>
            <a:endParaRPr lang="hu-HU" sz="3000" dirty="0"/>
          </a:p>
          <a:p>
            <a:r>
              <a:rPr lang="hu-HU" sz="3000" dirty="0"/>
              <a:t>Email küldés (számla, kulcs, rendelés)</a:t>
            </a:r>
          </a:p>
          <a:p>
            <a:endParaRPr lang="hu-HU" sz="3000" dirty="0"/>
          </a:p>
          <a:p>
            <a:r>
              <a:rPr lang="hu-HU" sz="3000" dirty="0"/>
              <a:t>Termékvideók a termékoldalon</a:t>
            </a:r>
          </a:p>
          <a:p>
            <a:endParaRPr lang="hu-HU" sz="3000" dirty="0"/>
          </a:p>
          <a:p>
            <a:r>
              <a:rPr lang="hu-HU" sz="3000" dirty="0"/>
              <a:t>Kuponkód rendszer</a:t>
            </a:r>
          </a:p>
        </p:txBody>
      </p:sp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3813460" y="89342"/>
            <a:ext cx="4565073" cy="878360"/>
          </a:xfrm>
        </p:spPr>
        <p:txBody>
          <a:bodyPr/>
          <a:lstStyle/>
          <a:p>
            <a:r>
              <a:rPr lang="hu-HU" dirty="0">
                <a:latin typeface="Aptos" panose="020B0004020202020204" pitchFamily="34" charset="0"/>
              </a:rPr>
              <a:t>Tovább fejlesztés</a:t>
            </a:r>
          </a:p>
        </p:txBody>
      </p:sp>
      <p:pic>
        <p:nvPicPr>
          <p:cNvPr id="7" name="Google Shape;114;p3">
            <a:extLst>
              <a:ext uri="{FF2B5EF4-FFF2-40B4-BE49-F238E27FC236}">
                <a16:creationId xmlns:a16="http://schemas.microsoft.com/office/drawing/2014/main" id="{984FE835-4251-32B6-222C-0E3AC8044CC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6200000" flipH="1">
            <a:off x="6073138" y="3156994"/>
            <a:ext cx="45719" cy="66086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Google Shape;114;p3">
            <a:extLst>
              <a:ext uri="{FF2B5EF4-FFF2-40B4-BE49-F238E27FC236}">
                <a16:creationId xmlns:a16="http://schemas.microsoft.com/office/drawing/2014/main" id="{E0456B5F-9B5C-2BA3-2AB1-8A8CE7D8CAD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16200000">
            <a:off x="6073141" y="-2224406"/>
            <a:ext cx="45719" cy="66086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635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Kép 5">
            <a:extLst>
              <a:ext uri="{FF2B5EF4-FFF2-40B4-BE49-F238E27FC236}">
                <a16:creationId xmlns:a16="http://schemas.microsoft.com/office/drawing/2014/main" id="{0619985A-D699-65EC-EC61-AD6623A995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46AEEA-9F7C-E708-1B36-60AA1036F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9533" y="481353"/>
            <a:ext cx="3192403" cy="549420"/>
          </a:xfrm>
        </p:spPr>
        <p:txBody>
          <a:bodyPr>
            <a:normAutofit/>
          </a:bodyPr>
          <a:lstStyle/>
          <a:p>
            <a:r>
              <a:rPr lang="en-US" sz="3200" b="0" dirty="0">
                <a:latin typeface="Aptos" panose="020B0004020202020204" pitchFamily="34" charset="0"/>
              </a:rPr>
              <a:t>a backend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EBE669-A2B6-4FD7-80CC-28E4E3CF7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0714" y="1474166"/>
            <a:ext cx="4898244" cy="171401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A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projekt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backend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része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Node.js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alapú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, Express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keretrendszerrel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működik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.</a:t>
            </a:r>
          </a:p>
          <a:p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Ez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egy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REST API,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amely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a frontend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számára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fog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biztosítani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 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adatkezelési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végpontokat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6FB642-0DF6-95ED-32A9-CDED06614EB1}"/>
              </a:ext>
            </a:extLst>
          </p:cNvPr>
          <p:cNvSpPr txBox="1"/>
          <p:nvPr/>
        </p:nvSpPr>
        <p:spPr>
          <a:xfrm>
            <a:off x="1448953" y="3429747"/>
            <a:ext cx="5562021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 backend </a:t>
            </a:r>
            <a:r>
              <a:rPr lang="en-US" dirty="0" err="1">
                <a:latin typeface="Aptos" panose="020B0004020202020204" pitchFamily="34" charset="0"/>
              </a:rPr>
              <a:t>feladatai</a:t>
            </a:r>
            <a:r>
              <a:rPr lang="en-US" dirty="0">
                <a:latin typeface="Aptos" panose="020B0004020202020204" pitchFamily="34" charset="0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Felhasználókezelés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Kosárkezelés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Rendeléskezelés</a:t>
            </a:r>
            <a:endParaRPr lang="en-US" dirty="0">
              <a:latin typeface="Aptos" panose="020B0004020202020204" pitchFamily="34" charset="0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Készletellenőrzés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és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 csökkentés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Jogosultságkezelés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 </a:t>
            </a:r>
          </a:p>
          <a:p>
            <a:pPr algn="l"/>
            <a:endParaRPr lang="en-US" dirty="0"/>
          </a:p>
        </p:txBody>
      </p:sp>
      <p:pic>
        <p:nvPicPr>
          <p:cNvPr id="5" name="Picture 4" descr="Node.js - Wikipedia">
            <a:extLst>
              <a:ext uri="{FF2B5EF4-FFF2-40B4-BE49-F238E27FC236}">
                <a16:creationId xmlns:a16="http://schemas.microsoft.com/office/drawing/2014/main" id="{C6384965-CD58-7E3E-E67E-9ED0C19FC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931" y="1548224"/>
            <a:ext cx="4281547" cy="2839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441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DA51C136-000F-CAB0-5D38-8E4F9F6BE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892DC8-AFF9-387A-9041-17C5F997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992" y="211719"/>
            <a:ext cx="2864015" cy="495208"/>
          </a:xfrm>
        </p:spPr>
        <p:txBody>
          <a:bodyPr>
            <a:normAutofit/>
          </a:bodyPr>
          <a:lstStyle/>
          <a:p>
            <a:r>
              <a:rPr lang="en-US" sz="2800" b="0" dirty="0" err="1"/>
              <a:t>projektstruktúra</a:t>
            </a:r>
            <a:endParaRPr lang="en-US" sz="2800" b="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6350F-7E77-F3AE-8C2B-767B9A97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8B4BEA-46B8-47B3-8CC9-CB80EAB8D520}" type="datetime1">
              <a:rPr lang="en-US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7B4D7-0EC2-DE37-AD8E-2AF3FA45F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54810-8AF9-7400-386A-F184E6A45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11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C28215-4D82-74B7-FF24-1F2CDF90A579}"/>
              </a:ext>
            </a:extLst>
          </p:cNvPr>
          <p:cNvSpPr txBox="1"/>
          <p:nvPr/>
        </p:nvSpPr>
        <p:spPr>
          <a:xfrm>
            <a:off x="1340775" y="918645"/>
            <a:ext cx="3640666" cy="56630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>
                <a:latin typeface="Aptos" panose="020B0004020202020204" pitchFamily="34" charset="0"/>
                <a:ea typeface="+mn-lt"/>
                <a:cs typeface="+mn-lt"/>
              </a:rPr>
              <a:t>backend/</a:t>
            </a:r>
            <a:r>
              <a:rPr lang="en-US" sz="1800" b="1" dirty="0" err="1">
                <a:latin typeface="Aptos" panose="020B0004020202020204" pitchFamily="34" charset="0"/>
                <a:ea typeface="+mn-lt"/>
                <a:cs typeface="+mn-lt"/>
              </a:rPr>
              <a:t>src</a:t>
            </a:r>
            <a:r>
              <a:rPr lang="en-US" sz="1800" b="1" dirty="0">
                <a:latin typeface="Aptos" panose="020B0004020202020204" pitchFamily="34" charset="0"/>
                <a:ea typeface="+mn-lt"/>
                <a:cs typeface="+mn-lt"/>
              </a:rPr>
              <a:t>/</a:t>
            </a:r>
          </a:p>
          <a:p>
            <a:r>
              <a:rPr lang="en-US" sz="1800" u="sng" dirty="0">
                <a:latin typeface="Aptos" panose="020B0004020202020204" pitchFamily="34" charset="0"/>
                <a:ea typeface="+mn-lt"/>
                <a:cs typeface="+mn-lt"/>
              </a:rPr>
              <a:t>config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feladata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:</a:t>
            </a:r>
          </a:p>
          <a:p>
            <a:pPr marL="285750" indent="-285750">
              <a:buFont typeface="Calibri"/>
              <a:buChar char="-"/>
            </a:pP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Adatbázis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kapcsolat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beállítása</a:t>
            </a:r>
            <a:endParaRPr lang="en-US" sz="1800" dirty="0">
              <a:latin typeface="Aptos" panose="020B0004020202020204" pitchFamily="34" charset="0"/>
              <a:ea typeface="+mn-lt"/>
              <a:cs typeface="+mn-lt"/>
            </a:endParaRPr>
          </a:p>
          <a:p>
            <a:endParaRPr lang="en-US" sz="1800" b="1" dirty="0">
              <a:latin typeface="Aptos" panose="020B0004020202020204" pitchFamily="34" charset="0"/>
              <a:ea typeface="+mn-lt"/>
              <a:cs typeface="+mn-lt"/>
            </a:endParaRPr>
          </a:p>
          <a:p>
            <a:r>
              <a:rPr lang="en-US" sz="1800" u="sng" dirty="0">
                <a:latin typeface="Aptos" panose="020B0004020202020204" pitchFamily="34" charset="0"/>
                <a:ea typeface="+mn-lt"/>
                <a:cs typeface="+mn-lt"/>
              </a:rPr>
              <a:t>controllers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feladata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: </a:t>
            </a:r>
            <a:endParaRPr lang="en-US" sz="1800" dirty="0">
              <a:latin typeface="Aptos" panose="020B0004020202020204" pitchFamily="34" charset="0"/>
            </a:endParaRPr>
          </a:p>
          <a:p>
            <a:pPr marL="285750" indent="-285750">
              <a:buFont typeface="Calibri"/>
              <a:buChar char="-"/>
            </a:pP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Üzleti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logika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kezelése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</a:p>
          <a:p>
            <a:pPr marL="285750" indent="-285750">
              <a:buFont typeface="Calibri"/>
              <a:buChar char="-"/>
            </a:pP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Tranzakciók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</a:p>
          <a:p>
            <a:pPr marL="285750" indent="-285750">
              <a:buFont typeface="Calibri"/>
              <a:buChar char="-"/>
            </a:pP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Stock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ellenőrzés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</a:p>
          <a:p>
            <a:pPr marL="285750" indent="-285750">
              <a:buFont typeface="Calibri"/>
              <a:buChar char="-"/>
            </a:pP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Jogosultság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ellenőrzés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</a:p>
          <a:p>
            <a:pPr marL="285750" indent="-285750">
              <a:buFont typeface="Calibri"/>
              <a:buChar char="-"/>
            </a:pPr>
            <a:endParaRPr lang="en-US" sz="1800" dirty="0">
              <a:latin typeface="Aptos" panose="020B0004020202020204" pitchFamily="34" charset="0"/>
            </a:endParaRPr>
          </a:p>
          <a:p>
            <a:r>
              <a:rPr lang="en-US" sz="1800" u="sng" dirty="0">
                <a:latin typeface="Aptos" panose="020B0004020202020204" pitchFamily="34" charset="0"/>
                <a:ea typeface="+mn-lt"/>
                <a:cs typeface="+mn-lt"/>
              </a:rPr>
              <a:t>models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 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feladata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:</a:t>
            </a:r>
          </a:p>
          <a:p>
            <a:pPr marL="285750" indent="-285750">
              <a:buFont typeface="Calibri"/>
              <a:buChar char="-"/>
            </a:pP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adatbázis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 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struktúra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 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definiálása</a:t>
            </a:r>
            <a:endParaRPr lang="en-US" sz="1800" dirty="0">
              <a:latin typeface="Aptos" panose="020B0004020202020204" pitchFamily="34" charset="0"/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ORM 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kapcsolat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 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kezelése</a:t>
            </a:r>
            <a:endParaRPr lang="en-US" sz="1800" dirty="0">
              <a:latin typeface="Aptos" panose="020B0004020202020204" pitchFamily="34" charset="0"/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adatok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 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lekérdezése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 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és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mentése</a:t>
            </a:r>
            <a:endParaRPr lang="en-US" sz="1800" dirty="0">
              <a:latin typeface="Aptos" panose="020B0004020202020204" pitchFamily="34" charset="0"/>
            </a:endParaRPr>
          </a:p>
          <a:p>
            <a:endParaRPr lang="en-US" sz="1800" dirty="0">
              <a:latin typeface="Aptos" panose="020B0004020202020204" pitchFamily="34" charset="0"/>
              <a:ea typeface="+mn-lt"/>
              <a:cs typeface="+mn-lt"/>
            </a:endParaRPr>
          </a:p>
          <a:p>
            <a:r>
              <a:rPr lang="en-US" sz="1800" u="sng" dirty="0">
                <a:latin typeface="Aptos" panose="020B0004020202020204" pitchFamily="34" charset="0"/>
                <a:ea typeface="+mn-lt"/>
                <a:cs typeface="+mn-lt"/>
              </a:rPr>
              <a:t>routes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feladata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: </a:t>
            </a:r>
          </a:p>
          <a:p>
            <a:pPr marL="285750" indent="-285750">
              <a:buFont typeface="Calibri"/>
              <a:buChar char="-"/>
            </a:pP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HTTP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végpontok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definiálása</a:t>
            </a:r>
            <a:endParaRPr lang="en-US" sz="1800" dirty="0">
              <a:latin typeface="Aptos" panose="020B0004020202020204" pitchFamily="34" charset="0"/>
              <a:ea typeface="+mn-lt"/>
              <a:cs typeface="+mn-lt"/>
            </a:endParaRPr>
          </a:p>
          <a:p>
            <a:pPr marL="285750" indent="-285750">
              <a:buFont typeface="Calibri"/>
              <a:buChar char="-"/>
            </a:pPr>
            <a:endParaRPr lang="en-US" dirty="0"/>
          </a:p>
          <a:p>
            <a:endParaRPr lang="en-US" dirty="0"/>
          </a:p>
          <a:p>
            <a:pPr marL="285750" indent="-285750">
              <a:buFont typeface="Calibri"/>
              <a:buChar char="-"/>
            </a:pPr>
            <a:endParaRPr lang="en-US" dirty="0"/>
          </a:p>
          <a:p>
            <a:endParaRPr lang="en-US" dirty="0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34DCED-16E2-E924-2475-4C422470C2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561" y="1188075"/>
            <a:ext cx="3840095" cy="528843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5859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Kép 8">
            <a:extLst>
              <a:ext uri="{FF2B5EF4-FFF2-40B4-BE49-F238E27FC236}">
                <a16:creationId xmlns:a16="http://schemas.microsoft.com/office/drawing/2014/main" id="{BCD72FAB-1F45-01A9-CEF4-2813A98E47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930C54-AC1C-EF04-FCBB-337234EFB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403" y="729326"/>
            <a:ext cx="3974196" cy="532102"/>
          </a:xfrm>
        </p:spPr>
        <p:txBody>
          <a:bodyPr>
            <a:normAutofit fontScale="90000"/>
          </a:bodyPr>
          <a:lstStyle/>
          <a:p>
            <a:r>
              <a:rPr lang="en-US" b="0" dirty="0" err="1">
                <a:latin typeface="Aptos" panose="020B0004020202020204" pitchFamily="34" charset="0"/>
              </a:rPr>
              <a:t>Middlewares</a:t>
            </a:r>
            <a:endParaRPr lang="en-US" b="0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DB48A-723C-BC60-0D4E-04C517E51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237" y="1352939"/>
            <a:ext cx="5876720" cy="4354497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endParaRPr lang="en-US" sz="1800" b="1" dirty="0">
              <a:latin typeface="Aptos" panose="020B0004020202020204" pitchFamily="34" charset="0"/>
            </a:endParaRPr>
          </a:p>
          <a:p>
            <a:r>
              <a:rPr lang="en-US" sz="1800" b="1" dirty="0">
                <a:latin typeface="Aptos" panose="020B0004020202020204" pitchFamily="34" charset="0"/>
                <a:ea typeface="+mn-lt"/>
                <a:cs typeface="+mn-lt"/>
              </a:rPr>
              <a:t>Auth.middleware.js: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Ellenőrzi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a JWT-t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az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authorization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fejlécben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. Ha a token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érvényes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, a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felhasználó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adatai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bekerülnek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a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req.user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objektumba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, ha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hiányzik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vagy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hibás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, a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kérés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hibát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kap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(401 / 403).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Védett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végpontoknál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használjuk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.</a:t>
            </a:r>
            <a:endParaRPr lang="en-US" dirty="0">
              <a:latin typeface="Aptos" panose="020B0004020202020204" pitchFamily="34" charset="0"/>
              <a:ea typeface="+mn-lt"/>
              <a:cs typeface="+mn-lt"/>
            </a:endParaRPr>
          </a:p>
          <a:p>
            <a:endParaRPr lang="en-US" sz="1800" dirty="0">
              <a:latin typeface="Aptos" panose="020B0004020202020204" pitchFamily="34" charset="0"/>
              <a:ea typeface="+mn-lt"/>
              <a:cs typeface="+mn-lt"/>
            </a:endParaRPr>
          </a:p>
          <a:p>
            <a:r>
              <a:rPr lang="en-US" sz="1800" b="1" dirty="0">
                <a:latin typeface="Aptos" panose="020B0004020202020204" pitchFamily="34" charset="0"/>
                <a:ea typeface="+mn-lt"/>
                <a:cs typeface="+mn-lt"/>
              </a:rPr>
              <a:t>Optional.middleware.js: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Opcionálisan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ellenőrzi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a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tokent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. Ha van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érvényes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token,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betölti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a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felhasználót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, ha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nincs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vagy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hibás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, a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kérés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vendégként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sz="1800" dirty="0" err="1">
                <a:latin typeface="Aptos" panose="020B0004020202020204" pitchFamily="34" charset="0"/>
                <a:ea typeface="+mn-lt"/>
                <a:cs typeface="+mn-lt"/>
              </a:rPr>
              <a:t>folytatódik</a:t>
            </a:r>
            <a:r>
              <a:rPr lang="en-US" sz="1800" dirty="0">
                <a:latin typeface="Aptos" panose="020B0004020202020204" pitchFamily="34" charset="0"/>
                <a:ea typeface="+mn-lt"/>
                <a:cs typeface="+mn-lt"/>
              </a:rPr>
              <a:t>.</a:t>
            </a:r>
            <a:endParaRPr lang="en-US" dirty="0">
              <a:latin typeface="Aptos" panose="020B0004020202020204" pitchFamily="34" charset="0"/>
              <a:ea typeface="+mn-lt"/>
              <a:cs typeface="+mn-lt"/>
            </a:endParaRPr>
          </a:p>
          <a:p>
            <a:pPr marL="285750" indent="-285750">
              <a:lnSpc>
                <a:spcPct val="100000"/>
              </a:lnSpc>
              <a:spcBef>
                <a:spcPts val="0"/>
              </a:spcBef>
              <a:buFont typeface="Arial,Sans-Serif" panose="020B0604020202020204" pitchFamily="34" charset="0"/>
            </a:pPr>
            <a:endParaRPr lang="en-US" sz="1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B85E68-D49F-D74E-6199-94412F666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6EB1F-2307-4F99-8098-25EDE70A4898}" type="datetime1">
              <a:rPr lang="en-US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6624D4-CDCA-19A4-9108-E6D9FDBC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BABEB-48EB-7D3C-9BDA-33B6953CEB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12</a:t>
            </a:fld>
            <a:endParaRPr lang="en-US" dirty="0"/>
          </a:p>
        </p:txBody>
      </p:sp>
      <p:pic>
        <p:nvPicPr>
          <p:cNvPr id="7" name="Picture 6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0DAFB100-0F2C-06F6-03AD-10B1383B4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9623" y="335106"/>
            <a:ext cx="4461164" cy="27674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8" name="Picture 7" descr="A computer screen shot of code&#10;&#10;AI-generated content may be incorrect.">
            <a:extLst>
              <a:ext uri="{FF2B5EF4-FFF2-40B4-BE49-F238E27FC236}">
                <a16:creationId xmlns:a16="http://schemas.microsoft.com/office/drawing/2014/main" id="{A195F32C-D87C-CCA9-06A9-76918A5AD1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0035" y="3524260"/>
            <a:ext cx="4026317" cy="263214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335582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512780BB-CFC2-C16D-BB0E-7CC4A71EF7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394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62C593D-211D-37B8-3602-5E72E15BE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8076" y="262321"/>
            <a:ext cx="2875847" cy="696624"/>
          </a:xfrm>
        </p:spPr>
        <p:txBody>
          <a:bodyPr>
            <a:normAutofit/>
          </a:bodyPr>
          <a:lstStyle/>
          <a:p>
            <a:r>
              <a:rPr lang="en-US" sz="2800" b="0" dirty="0">
                <a:latin typeface="Aptos" panose="020B0004020202020204" pitchFamily="34" charset="0"/>
              </a:rPr>
              <a:t>REGISTER &amp; login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295B5-D7BE-519C-750F-F4E3F1A27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55ADE4-1CEF-4C06-B0F2-B35AB10EC8AB}" type="datetime1">
              <a:rPr lang="en-US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D09E3B-1741-54DE-4202-8899E9E7E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2629EC-C45D-9621-5677-707553DF1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13</a:t>
            </a:fld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561E52-992A-2D04-4DC0-B675F845ED36}"/>
              </a:ext>
            </a:extLst>
          </p:cNvPr>
          <p:cNvSpPr txBox="1"/>
          <p:nvPr/>
        </p:nvSpPr>
        <p:spPr>
          <a:xfrm>
            <a:off x="455570" y="1528059"/>
            <a:ext cx="3914229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>
                <a:latin typeface="Aptos" panose="020B0004020202020204" pitchFamily="34" charset="0"/>
                <a:ea typeface="+mn-lt"/>
                <a:cs typeface="+mn-lt"/>
              </a:rPr>
              <a:t>POST /</a:t>
            </a:r>
            <a:r>
              <a:rPr lang="en-US" b="1" dirty="0" err="1">
                <a:latin typeface="Aptos" panose="020B0004020202020204" pitchFamily="34" charset="0"/>
                <a:ea typeface="+mn-lt"/>
                <a:cs typeface="+mn-lt"/>
              </a:rPr>
              <a:t>api</a:t>
            </a:r>
            <a:r>
              <a:rPr lang="en-US" b="1" dirty="0">
                <a:latin typeface="Aptos" panose="020B0004020202020204" pitchFamily="34" charset="0"/>
                <a:ea typeface="+mn-lt"/>
                <a:cs typeface="+mn-lt"/>
              </a:rPr>
              <a:t>/auth/register</a:t>
            </a:r>
            <a:endParaRPr lang="en-US" dirty="0">
              <a:latin typeface="Aptos" panose="020B0004020202020204" pitchFamily="34" charset="0"/>
              <a:ea typeface="+mn-lt"/>
              <a:cs typeface="+mn-lt"/>
            </a:endParaRPr>
          </a:p>
          <a:p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Feladata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Új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felhasználó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létrehozása</a:t>
            </a:r>
            <a:endParaRPr lang="en-US" dirty="0">
              <a:latin typeface="Aptos" panose="020B0004020202020204" pitchFamily="34" charset="0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Jelszó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titkosítása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 (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bcrypt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)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Ellenőrzi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 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hogy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foglalt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-e</a:t>
            </a: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ptos" panose="020B0004020202020204" pitchFamily="34" charset="0"/>
              </a:rPr>
              <a:t>Utána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automatikus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bejelentkezés</a:t>
            </a:r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venir Next LT Pro Ligh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99D6B4-F8B0-E02D-9AC3-C30F9234122F}"/>
              </a:ext>
            </a:extLst>
          </p:cNvPr>
          <p:cNvSpPr txBox="1"/>
          <p:nvPr/>
        </p:nvSpPr>
        <p:spPr>
          <a:xfrm>
            <a:off x="461056" y="3560092"/>
            <a:ext cx="4043796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dirty="0" err="1">
              <a:latin typeface="Aptos" panose="020B0004020202020204" pitchFamily="34" charset="0"/>
            </a:endParaRPr>
          </a:p>
          <a:p>
            <a:r>
              <a:rPr lang="en-US" b="1" dirty="0">
                <a:latin typeface="Aptos" panose="020B0004020202020204" pitchFamily="34" charset="0"/>
              </a:rPr>
              <a:t>POST /</a:t>
            </a:r>
            <a:r>
              <a:rPr lang="en-US" b="1" dirty="0" err="1">
                <a:latin typeface="Aptos" panose="020B0004020202020204" pitchFamily="34" charset="0"/>
              </a:rPr>
              <a:t>api</a:t>
            </a:r>
            <a:r>
              <a:rPr lang="en-US" b="1" dirty="0">
                <a:latin typeface="Aptos" panose="020B0004020202020204" pitchFamily="34" charset="0"/>
              </a:rPr>
              <a:t>/auth/login</a:t>
            </a:r>
          </a:p>
          <a:p>
            <a:r>
              <a:rPr lang="en-US" dirty="0" err="1">
                <a:latin typeface="Aptos" panose="020B0004020202020204" pitchFamily="34" charset="0"/>
              </a:rPr>
              <a:t>Feladata</a:t>
            </a:r>
            <a:r>
              <a:rPr lang="en-US" dirty="0">
                <a:latin typeface="Aptos" panose="020B0004020202020204" pitchFamily="34" charset="0"/>
              </a:rPr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ptos" panose="020B0004020202020204" pitchFamily="34" charset="0"/>
              </a:rPr>
              <a:t>Felhasználó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keresése</a:t>
            </a:r>
            <a:endParaRPr lang="en-US" dirty="0">
              <a:latin typeface="Aptos" panose="020B0004020202020204" pitchFamily="34" charset="0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adatbázisban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Jelszó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 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ellenőrzése</a:t>
            </a:r>
            <a:endParaRPr lang="en-US" dirty="0">
              <a:latin typeface="Aptos" panose="020B0004020202020204" pitchFamily="34" charset="0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JWT 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generálás</a:t>
            </a:r>
            <a:endParaRPr lang="en-US" dirty="0">
              <a:latin typeface="Aptos" panose="020B0004020202020204" pitchFamily="34" charset="0"/>
            </a:endParaRPr>
          </a:p>
          <a:p>
            <a:pPr algn="l"/>
            <a:endParaRPr lang="en-US" dirty="0"/>
          </a:p>
        </p:txBody>
      </p:sp>
      <p:pic>
        <p:nvPicPr>
          <p:cNvPr id="12" name="Content Placeholder 11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558A2C6A-2ACD-594E-0841-EF4544E189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932601" y="1713004"/>
            <a:ext cx="3219387" cy="282574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pic>
        <p:nvPicPr>
          <p:cNvPr id="13" name="Picture 12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2046F3BC-5BC2-B72B-02DD-243923BDA3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6419" y="1347839"/>
            <a:ext cx="3216941" cy="3685025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DC954D6-7E1E-A038-9C71-15A25067C93A}"/>
              </a:ext>
            </a:extLst>
          </p:cNvPr>
          <p:cNvSpPr txBox="1"/>
          <p:nvPr/>
        </p:nvSpPr>
        <p:spPr>
          <a:xfrm>
            <a:off x="7343670" y="5593582"/>
            <a:ext cx="208503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Login.controller.js</a:t>
            </a:r>
          </a:p>
        </p:txBody>
      </p:sp>
    </p:spTree>
    <p:extLst>
      <p:ext uri="{BB962C8B-B14F-4D97-AF65-F5344CB8AC3E}">
        <p14:creationId xmlns:p14="http://schemas.microsoft.com/office/powerpoint/2010/main" val="2613417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4526AB57-EDB9-27C0-81BF-447B972F6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DDFDD8-9816-313B-BC4B-743314072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5562" y="372210"/>
            <a:ext cx="6121364" cy="566738"/>
          </a:xfrm>
        </p:spPr>
        <p:txBody>
          <a:bodyPr>
            <a:normAutofit/>
          </a:bodyPr>
          <a:lstStyle/>
          <a:p>
            <a:r>
              <a:rPr lang="en-US" sz="2800" b="0" dirty="0">
                <a:latin typeface="Aptos" panose="020B0004020202020204" pitchFamily="34" charset="0"/>
              </a:rPr>
              <a:t>Cart &amp; order/checkout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63722-FE33-0042-03D4-5F58CC3B5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3737" y="1439530"/>
            <a:ext cx="3504131" cy="2605361"/>
          </a:xfrm>
        </p:spPr>
        <p:txBody>
          <a:bodyPr vert="horz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b="1" dirty="0" err="1">
                <a:solidFill>
                  <a:srgbClr val="000000"/>
                </a:solidFill>
                <a:latin typeface="Aptos" panose="020B0004020202020204" pitchFamily="34" charset="0"/>
              </a:rPr>
              <a:t>Felhasználóknak</a:t>
            </a:r>
            <a:r>
              <a:rPr lang="en-US" b="1" dirty="0">
                <a:solidFill>
                  <a:srgbClr val="000000"/>
                </a:solidFill>
                <a:latin typeface="Aptos" panose="020B0004020202020204" pitchFamily="34" charset="0"/>
              </a:rPr>
              <a:t>:</a:t>
            </a:r>
          </a:p>
          <a:p>
            <a:pPr>
              <a:buFont typeface="Calibri" panose="020B0604020202020204" pitchFamily="34" charset="0"/>
              <a:buChar char="-"/>
            </a:pPr>
            <a:r>
              <a:rPr lang="en-US" sz="1800" dirty="0" err="1">
                <a:latin typeface="Aptos" panose="020B0004020202020204" pitchFamily="34" charset="0"/>
              </a:rPr>
              <a:t>Megvásárolható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</a:rPr>
              <a:t>az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</a:rPr>
              <a:t>összes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</a:rPr>
              <a:t>termék</a:t>
            </a:r>
            <a:endParaRPr lang="en-US" sz="1800" dirty="0">
              <a:latin typeface="Aptos" panose="020B0004020202020204" pitchFamily="34" charset="0"/>
            </a:endParaRPr>
          </a:p>
          <a:p>
            <a:pPr>
              <a:buFont typeface="Calibri" panose="020B0604020202020204" pitchFamily="34" charset="0"/>
              <a:buChar char="-"/>
            </a:pPr>
            <a:r>
              <a:rPr lang="en-US" sz="1800" dirty="0" err="1">
                <a:latin typeface="Aptos" panose="020B0004020202020204" pitchFamily="34" charset="0"/>
              </a:rPr>
              <a:t>Hardver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</a:rPr>
              <a:t>termék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</a:rPr>
              <a:t>vásárlása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</a:rPr>
              <a:t>esetén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</a:rPr>
              <a:t>kötelező</a:t>
            </a:r>
            <a:r>
              <a:rPr lang="en-US" sz="1800" dirty="0">
                <a:latin typeface="Aptos" panose="020B0004020202020204" pitchFamily="34" charset="0"/>
              </a:rPr>
              <a:t> a </a:t>
            </a:r>
            <a:r>
              <a:rPr lang="en-US" sz="1800" dirty="0" err="1">
                <a:latin typeface="Aptos" panose="020B0004020202020204" pitchFamily="34" charset="0"/>
              </a:rPr>
              <a:t>szállítási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</a:rPr>
              <a:t>adatok</a:t>
            </a:r>
            <a:r>
              <a:rPr lang="en-US" sz="1800" dirty="0">
                <a:latin typeface="Aptos" panose="020B0004020202020204" pitchFamily="34" charset="0"/>
              </a:rPr>
              <a:t> </a:t>
            </a:r>
            <a:r>
              <a:rPr lang="en-US" sz="1800" dirty="0" err="1">
                <a:latin typeface="Aptos" panose="020B0004020202020204" pitchFamily="34" charset="0"/>
              </a:rPr>
              <a:t>megadása</a:t>
            </a:r>
            <a:endParaRPr lang="en-US" sz="1800" dirty="0">
              <a:latin typeface="Aptos" panose="020B0004020202020204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8B424B-F7EA-8E51-706E-70D590CDC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A55A1-C171-42F8-9FA2-2F9FC00AC6A2}" type="datetime1">
              <a:rPr lang="en-US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D2E393-B92B-CDF6-8025-0E68A23A5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A77FB-4951-6286-17F0-1CDF2B3CC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14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314DB2F-12AA-2A5D-6E6D-F42A31760AEF}"/>
              </a:ext>
            </a:extLst>
          </p:cNvPr>
          <p:cNvSpPr txBox="1">
            <a:spLocks/>
          </p:cNvSpPr>
          <p:nvPr/>
        </p:nvSpPr>
        <p:spPr>
          <a:xfrm>
            <a:off x="4078431" y="1436067"/>
            <a:ext cx="3677313" cy="2155087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latin typeface="Aptos" panose="020B0004020202020204" pitchFamily="34" charset="0"/>
              </a:rPr>
              <a:t>Vendégeknek</a:t>
            </a:r>
            <a:r>
              <a:rPr lang="en-US" b="1" dirty="0">
                <a:latin typeface="Aptos" panose="020B0004020202020204" pitchFamily="34" charset="0"/>
              </a:rPr>
              <a:t>:</a:t>
            </a:r>
            <a:endParaRPr lang="en-US" dirty="0">
              <a:latin typeface="Aptos" panose="020B0004020202020204" pitchFamily="34" charset="0"/>
            </a:endParaRPr>
          </a:p>
          <a:p>
            <a:pPr>
              <a:buFont typeface="Calibri"/>
              <a:buChar char="-"/>
            </a:pPr>
            <a:r>
              <a:rPr lang="en-US" sz="1800" dirty="0" err="1">
                <a:solidFill>
                  <a:srgbClr val="000000"/>
                </a:solidFill>
                <a:latin typeface="Aptos" panose="020B0004020202020204" pitchFamily="34" charset="0"/>
              </a:rPr>
              <a:t>Csak</a:t>
            </a:r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ptos" panose="020B0004020202020204" pitchFamily="34" charset="0"/>
              </a:rPr>
              <a:t>játékkulcs</a:t>
            </a:r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ptos" panose="020B0004020202020204" pitchFamily="34" charset="0"/>
              </a:rPr>
              <a:t>és</a:t>
            </a:r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ptos" panose="020B0004020202020204" pitchFamily="34" charset="0"/>
              </a:rPr>
              <a:t>ajándékkártya</a:t>
            </a:r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ptos" panose="020B0004020202020204" pitchFamily="34" charset="0"/>
              </a:rPr>
              <a:t>vásárolható</a:t>
            </a:r>
            <a:endParaRPr lang="en-US" sz="18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>
              <a:buFont typeface="Calibri"/>
              <a:buChar char="-"/>
            </a:pPr>
            <a:r>
              <a:rPr lang="en-US" sz="1800" dirty="0" err="1">
                <a:solidFill>
                  <a:srgbClr val="000000"/>
                </a:solidFill>
                <a:latin typeface="Aptos" panose="020B0004020202020204" pitchFamily="34" charset="0"/>
              </a:rPr>
              <a:t>Elég</a:t>
            </a:r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ptos" panose="020B0004020202020204" pitchFamily="34" charset="0"/>
              </a:rPr>
              <a:t>egy</a:t>
            </a:r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 email </a:t>
            </a:r>
            <a:r>
              <a:rPr lang="en-US" sz="1800" dirty="0" err="1">
                <a:solidFill>
                  <a:srgbClr val="000000"/>
                </a:solidFill>
                <a:latin typeface="Aptos" panose="020B0004020202020204" pitchFamily="34" charset="0"/>
              </a:rPr>
              <a:t>cím</a:t>
            </a:r>
            <a:endParaRPr lang="en-US" sz="18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pPr>
              <a:buFont typeface="Calibri"/>
              <a:buChar char="-"/>
            </a:pPr>
            <a:r>
              <a:rPr lang="en-US" sz="1800" dirty="0" err="1">
                <a:solidFill>
                  <a:srgbClr val="000000"/>
                </a:solidFill>
                <a:latin typeface="Aptos" panose="020B0004020202020204" pitchFamily="34" charset="0"/>
              </a:rPr>
              <a:t>Privát</a:t>
            </a:r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ptos" panose="020B0004020202020204" pitchFamily="34" charset="0"/>
              </a:rPr>
              <a:t>és</a:t>
            </a:r>
            <a:r>
              <a:rPr lang="en-US" sz="1800" dirty="0">
                <a:solidFill>
                  <a:srgbClr val="000000"/>
                </a:solidFill>
                <a:latin typeface="Aptos" panose="020B000402020202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Aptos" panose="020B0004020202020204" pitchFamily="34" charset="0"/>
              </a:rPr>
              <a:t>kényelmes</a:t>
            </a:r>
          </a:p>
          <a:p>
            <a:pPr>
              <a:buFont typeface="Calibri" panose="020B0604020202020204" pitchFamily="34" charset="0"/>
              <a:buChar char="-"/>
            </a:pPr>
            <a:endParaRPr lang="en-US" dirty="0">
              <a:solidFill>
                <a:srgbClr val="000000"/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9EB514-1B33-170C-6312-EA0FDE81F26F}"/>
              </a:ext>
            </a:extLst>
          </p:cNvPr>
          <p:cNvSpPr txBox="1"/>
          <p:nvPr/>
        </p:nvSpPr>
        <p:spPr>
          <a:xfrm>
            <a:off x="457313" y="4046935"/>
            <a:ext cx="3118318" cy="223138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 err="1">
                <a:latin typeface="Aptos" panose="020B0004020202020204" pitchFamily="34" charset="0"/>
              </a:rPr>
              <a:t>Példa</a:t>
            </a:r>
            <a:r>
              <a:rPr lang="en-US" sz="1100" dirty="0">
                <a:latin typeface="Aptos" panose="020B0004020202020204" pitchFamily="34" charset="0"/>
              </a:rPr>
              <a:t>: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 </a:t>
            </a:r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{</a:t>
            </a:r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  "</a:t>
            </a:r>
            <a:r>
              <a:rPr lang="en-US" sz="1100" dirty="0" err="1">
                <a:latin typeface="Aptos" panose="020B0004020202020204" pitchFamily="34" charset="0"/>
                <a:ea typeface="+mn-lt"/>
                <a:cs typeface="+mn-lt"/>
              </a:rPr>
              <a:t>first_name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": "Kiss",</a:t>
            </a:r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  "</a:t>
            </a:r>
            <a:r>
              <a:rPr lang="en-US" sz="1100" dirty="0" err="1">
                <a:latin typeface="Aptos" panose="020B0004020202020204" pitchFamily="34" charset="0"/>
                <a:ea typeface="+mn-lt"/>
                <a:cs typeface="+mn-lt"/>
              </a:rPr>
              <a:t>last_name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": "Péter",</a:t>
            </a:r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  "email": "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  <a:hlinkClick r:id="rId3"/>
              </a:rPr>
              <a:t>teszt@email.com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",</a:t>
            </a:r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  "phone": "06301234567",</a:t>
            </a:r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  "</a:t>
            </a:r>
            <a:r>
              <a:rPr lang="en-US" sz="1100" dirty="0" err="1">
                <a:latin typeface="Aptos" panose="020B0004020202020204" pitchFamily="34" charset="0"/>
                <a:ea typeface="+mn-lt"/>
                <a:cs typeface="+mn-lt"/>
              </a:rPr>
              <a:t>zip_code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": "1111",</a:t>
            </a:r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  "city": "Budapest",</a:t>
            </a:r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  "</a:t>
            </a:r>
            <a:r>
              <a:rPr lang="en-US" sz="1100" dirty="0" err="1">
                <a:latin typeface="Aptos" panose="020B0004020202020204" pitchFamily="34" charset="0"/>
                <a:ea typeface="+mn-lt"/>
                <a:cs typeface="+mn-lt"/>
              </a:rPr>
              <a:t>address_line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": "Sziget </a:t>
            </a:r>
            <a:r>
              <a:rPr lang="en-US" sz="1100" dirty="0" err="1">
                <a:latin typeface="Aptos" panose="020B0004020202020204" pitchFamily="34" charset="0"/>
                <a:ea typeface="+mn-lt"/>
                <a:cs typeface="+mn-lt"/>
              </a:rPr>
              <a:t>utca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 12",</a:t>
            </a:r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  "</a:t>
            </a:r>
            <a:r>
              <a:rPr lang="en-US" sz="1100" dirty="0" err="1">
                <a:latin typeface="Aptos" panose="020B0004020202020204" pitchFamily="34" charset="0"/>
                <a:ea typeface="+mn-lt"/>
                <a:cs typeface="+mn-lt"/>
              </a:rPr>
              <a:t>additional_info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": "2. </a:t>
            </a:r>
            <a:r>
              <a:rPr lang="en-US" sz="1100" dirty="0" err="1">
                <a:latin typeface="Aptos" panose="020B0004020202020204" pitchFamily="34" charset="0"/>
                <a:ea typeface="+mn-lt"/>
                <a:cs typeface="+mn-lt"/>
              </a:rPr>
              <a:t>emelet</a:t>
            </a:r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 5."</a:t>
            </a:r>
            <a:endParaRPr lang="en-US" sz="1100" dirty="0">
              <a:latin typeface="Aptos" panose="020B0004020202020204" pitchFamily="34" charset="0"/>
            </a:endParaRPr>
          </a:p>
          <a:p>
            <a:r>
              <a:rPr lang="en-US" sz="1100" dirty="0">
                <a:latin typeface="Aptos" panose="020B0004020202020204" pitchFamily="34" charset="0"/>
                <a:ea typeface="+mn-lt"/>
                <a:cs typeface="+mn-lt"/>
              </a:rPr>
              <a:t>}</a:t>
            </a:r>
            <a:endParaRPr lang="en-US" sz="1100" dirty="0">
              <a:latin typeface="Aptos" panose="020B0004020202020204" pitchFamily="34" charset="0"/>
            </a:endParaRP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0093A2-8EFF-4B3C-7CAC-E1B1EB78545A}"/>
              </a:ext>
            </a:extLst>
          </p:cNvPr>
          <p:cNvSpPr txBox="1"/>
          <p:nvPr/>
        </p:nvSpPr>
        <p:spPr>
          <a:xfrm>
            <a:off x="4075670" y="4042653"/>
            <a:ext cx="3022879" cy="9848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100" dirty="0" err="1">
                <a:latin typeface="Aptos" panose="020B0004020202020204" pitchFamily="34" charset="0"/>
              </a:rPr>
              <a:t>Példa</a:t>
            </a:r>
            <a:r>
              <a:rPr lang="en-US" sz="1100" dirty="0">
                <a:latin typeface="Aptos" panose="020B0004020202020204" pitchFamily="34" charset="0"/>
              </a:rPr>
              <a:t>: </a:t>
            </a:r>
          </a:p>
          <a:p>
            <a:r>
              <a:rPr lang="en-US" sz="1100" dirty="0">
                <a:latin typeface="Aptos" panose="020B0004020202020204" pitchFamily="34" charset="0"/>
              </a:rPr>
              <a:t>{</a:t>
            </a:r>
          </a:p>
          <a:p>
            <a:r>
              <a:rPr lang="en-US" sz="1100" dirty="0">
                <a:latin typeface="Aptos" panose="020B0004020202020204" pitchFamily="34" charset="0"/>
              </a:rPr>
              <a:t>  "email": "</a:t>
            </a:r>
            <a:r>
              <a:rPr lang="en-US" sz="1100" dirty="0">
                <a:latin typeface="Aptos" panose="020B0004020202020204" pitchFamily="34" charset="0"/>
                <a:hlinkClick r:id="rId3"/>
              </a:rPr>
              <a:t>teszt@email.com</a:t>
            </a:r>
            <a:r>
              <a:rPr lang="en-US" sz="1100" dirty="0">
                <a:latin typeface="Aptos" panose="020B0004020202020204" pitchFamily="34" charset="0"/>
              </a:rPr>
              <a:t>"</a:t>
            </a:r>
          </a:p>
          <a:p>
            <a:r>
              <a:rPr lang="en-US" sz="1100" dirty="0">
                <a:latin typeface="Aptos" panose="020B0004020202020204" pitchFamily="34" charset="0"/>
              </a:rPr>
              <a:t>}</a:t>
            </a:r>
          </a:p>
          <a:p>
            <a:pPr algn="l"/>
            <a:endParaRPr lang="en-US" dirty="0"/>
          </a:p>
        </p:txBody>
      </p:sp>
      <p:pic>
        <p:nvPicPr>
          <p:cNvPr id="11" name="Picture 10" descr="A screen shot of a computer program&#10;&#10;AI-generated content may be incorrect.">
            <a:extLst>
              <a:ext uri="{FF2B5EF4-FFF2-40B4-BE49-F238E27FC236}">
                <a16:creationId xmlns:a16="http://schemas.microsoft.com/office/drawing/2014/main" id="{6F787B0B-9D6F-F86C-31B4-3A1369FE58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3876" y="381000"/>
            <a:ext cx="3677045" cy="561109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8D18BCA-B9B4-A7FD-0252-6E3E64EF386D}"/>
              </a:ext>
            </a:extLst>
          </p:cNvPr>
          <p:cNvSpPr txBox="1"/>
          <p:nvPr/>
        </p:nvSpPr>
        <p:spPr>
          <a:xfrm>
            <a:off x="8855870" y="5992661"/>
            <a:ext cx="210482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Order.controller.js</a:t>
            </a:r>
          </a:p>
        </p:txBody>
      </p:sp>
    </p:spTree>
    <p:extLst>
      <p:ext uri="{BB962C8B-B14F-4D97-AF65-F5344CB8AC3E}">
        <p14:creationId xmlns:p14="http://schemas.microsoft.com/office/powerpoint/2010/main" val="18030554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684B6D88-C097-C695-2E4E-DB628F784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B3DBC2-FC9B-9487-C616-33A7E3C6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180" y="374208"/>
            <a:ext cx="10664236" cy="636011"/>
          </a:xfrm>
        </p:spPr>
        <p:txBody>
          <a:bodyPr/>
          <a:lstStyle/>
          <a:p>
            <a:pPr algn="ctr"/>
            <a:r>
              <a:rPr lang="en-US" sz="2800" b="0" dirty="0">
                <a:latin typeface="Aptos" panose="020B0004020202020204" pitchFamily="34" charset="0"/>
                <a:ea typeface="+mj-lt"/>
                <a:cs typeface="+mj-lt"/>
              </a:rPr>
              <a:t>API </a:t>
            </a:r>
            <a:r>
              <a:rPr lang="en-US" sz="2800" b="0" dirty="0" err="1">
                <a:latin typeface="Aptos" panose="020B0004020202020204" pitchFamily="34" charset="0"/>
                <a:ea typeface="+mj-lt"/>
                <a:cs typeface="+mj-lt"/>
              </a:rPr>
              <a:t>működés</a:t>
            </a:r>
            <a:r>
              <a:rPr lang="en-US" sz="2800" b="0" dirty="0">
                <a:latin typeface="Aptos" panose="020B0004020202020204" pitchFamily="34" charset="0"/>
                <a:ea typeface="+mj-lt"/>
                <a:cs typeface="+mj-lt"/>
              </a:rPr>
              <a:t>/postman </a:t>
            </a:r>
            <a:r>
              <a:rPr lang="en-US" sz="2800" b="0" dirty="0" err="1">
                <a:latin typeface="Aptos" panose="020B0004020202020204" pitchFamily="34" charset="0"/>
                <a:ea typeface="+mj-lt"/>
                <a:cs typeface="+mj-lt"/>
              </a:rPr>
              <a:t>tesztek</a:t>
            </a:r>
            <a:endParaRPr lang="en-US" sz="2800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306D9-CEA5-7FB0-1BDA-38CF8F2E7B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514" y="1896536"/>
            <a:ext cx="4345451" cy="3605542"/>
          </a:xfrm>
        </p:spPr>
        <p:txBody>
          <a:bodyPr vert="horz" lIns="0" tIns="0" rIns="0" bIns="0" rtlCol="0" anchor="t">
            <a:noAutofit/>
          </a:bodyPr>
          <a:lstStyle/>
          <a:p>
            <a:pPr marL="342900" indent="-342900"/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POST 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api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/auth/register</a:t>
            </a:r>
            <a:endParaRPr lang="en-US" dirty="0">
              <a:latin typeface="Aptos" panose="020B0004020202020204" pitchFamily="34" charset="0"/>
            </a:endParaRPr>
          </a:p>
          <a:p>
            <a:pPr marL="342900" indent="-342900"/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POST /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api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/auth/login </a:t>
            </a:r>
            <a:endParaRPr lang="en-US" dirty="0">
              <a:latin typeface="Aptos" panose="020B0004020202020204" pitchFamily="34" charset="0"/>
            </a:endParaRPr>
          </a:p>
          <a:p>
            <a:pPr marL="342900" indent="-342900"/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POST /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api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/cart/add</a:t>
            </a:r>
          </a:p>
          <a:p>
            <a:pPr marL="342900" indent="-342900"/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GET  /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api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/cart </a:t>
            </a:r>
            <a:endParaRPr lang="en-US" dirty="0">
              <a:latin typeface="Aptos" panose="020B0004020202020204" pitchFamily="34" charset="0"/>
            </a:endParaRPr>
          </a:p>
          <a:p>
            <a:pPr marL="342900" indent="-342900"/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DELETE /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api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/cart/remove</a:t>
            </a:r>
            <a:endParaRPr lang="en-US" dirty="0">
              <a:latin typeface="Aptos" panose="020B0004020202020204" pitchFamily="34" charset="0"/>
            </a:endParaRPr>
          </a:p>
          <a:p>
            <a:pPr marL="342900" indent="-342900"/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POST /</a:t>
            </a:r>
            <a:r>
              <a:rPr lang="en-US" dirty="0" err="1">
                <a:latin typeface="Aptos" panose="020B0004020202020204" pitchFamily="34" charset="0"/>
                <a:ea typeface="+mn-lt"/>
                <a:cs typeface="+mn-lt"/>
              </a:rPr>
              <a:t>api</a:t>
            </a:r>
            <a:r>
              <a:rPr lang="en-US" dirty="0">
                <a:latin typeface="Aptos" panose="020B0004020202020204" pitchFamily="34" charset="0"/>
                <a:ea typeface="+mn-lt"/>
                <a:cs typeface="+mn-lt"/>
              </a:rPr>
              <a:t>/orders/checkout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9AA32-3858-EDD7-DCA4-3D0DD36CF2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165698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E744A3-406C-01F7-7606-DB067A8E3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FCDF08F-3A76-D025-217F-03FF2BB3B3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0031" y="1451935"/>
            <a:ext cx="5191963" cy="425558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689340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7">
            <a:extLst>
              <a:ext uri="{FF2B5EF4-FFF2-40B4-BE49-F238E27FC236}">
                <a16:creationId xmlns:a16="http://schemas.microsoft.com/office/drawing/2014/main" id="{00DE47F2-F2D0-9C17-0710-04BF6F095E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CC9626F-E25A-E186-9BC5-6C5224D71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737" y="793080"/>
            <a:ext cx="10829720" cy="592716"/>
          </a:xfrm>
        </p:spPr>
        <p:txBody>
          <a:bodyPr>
            <a:normAutofit fontScale="90000"/>
          </a:bodyPr>
          <a:lstStyle/>
          <a:p>
            <a:r>
              <a:rPr lang="en-US" b="0" dirty="0" err="1">
                <a:latin typeface="Aptos" panose="020B0004020202020204" pitchFamily="34" charset="0"/>
              </a:rPr>
              <a:t>Továbbfejlesztések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B2445F-2448-EA8B-1CD2-4B3D87D79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7919" y="1952233"/>
            <a:ext cx="10656538" cy="4118885"/>
          </a:xfrm>
        </p:spPr>
        <p:txBody>
          <a:bodyPr vert="horz" lIns="0" tIns="0" rIns="0" bIns="0" rtlCol="0" anchor="t">
            <a:normAutofit/>
          </a:bodyPr>
          <a:lstStyle/>
          <a:p>
            <a:pPr marL="457200" indent="-457200"/>
            <a:r>
              <a:rPr lang="en-US" sz="2800" dirty="0" err="1">
                <a:latin typeface="Aptos" panose="020B0004020202020204" pitchFamily="34" charset="0"/>
              </a:rPr>
              <a:t>Fizetés</a:t>
            </a:r>
            <a:r>
              <a:rPr lang="en-US" sz="2800" dirty="0">
                <a:latin typeface="Aptos" panose="020B0004020202020204" pitchFamily="34" charset="0"/>
              </a:rPr>
              <a:t> (</a:t>
            </a:r>
            <a:r>
              <a:rPr lang="en-US" sz="2800" dirty="0" err="1">
                <a:latin typeface="Aptos" panose="020B0004020202020204" pitchFamily="34" charset="0"/>
              </a:rPr>
              <a:t>payment_method</a:t>
            </a:r>
            <a:r>
              <a:rPr lang="en-US" sz="2800" dirty="0">
                <a:latin typeface="Aptos" panose="020B0004020202020204" pitchFamily="34" charset="0"/>
              </a:rPr>
              <a:t>)</a:t>
            </a:r>
          </a:p>
          <a:p>
            <a:pPr marL="457200" indent="-457200"/>
            <a:r>
              <a:rPr lang="en-US" sz="2800" dirty="0" err="1">
                <a:latin typeface="Aptos" panose="020B0004020202020204" pitchFamily="34" charset="0"/>
              </a:rPr>
              <a:t>Kuponkódok</a:t>
            </a:r>
            <a:endParaRPr lang="en-US" sz="2800" dirty="0">
              <a:latin typeface="Aptos" panose="020B0004020202020204" pitchFamily="34" charset="0"/>
            </a:endParaRPr>
          </a:p>
          <a:p>
            <a:pPr marL="457200" indent="-457200"/>
            <a:r>
              <a:rPr lang="en-US" sz="2800" dirty="0" err="1">
                <a:latin typeface="Aptos" panose="020B0004020202020204" pitchFamily="34" charset="0"/>
              </a:rPr>
              <a:t>Kód</a:t>
            </a:r>
            <a:r>
              <a:rPr lang="en-US" sz="2800" dirty="0">
                <a:latin typeface="Aptos" panose="020B0004020202020204" pitchFamily="34" charset="0"/>
              </a:rPr>
              <a:t> </a:t>
            </a:r>
            <a:r>
              <a:rPr lang="en-US" sz="2800" dirty="0" err="1">
                <a:latin typeface="Aptos" panose="020B0004020202020204" pitchFamily="34" charset="0"/>
              </a:rPr>
              <a:t>kiküldése</a:t>
            </a:r>
            <a:r>
              <a:rPr lang="en-US" sz="2800" dirty="0">
                <a:latin typeface="Aptos" panose="020B0004020202020204" pitchFamily="34" charset="0"/>
              </a:rPr>
              <a:t> a </a:t>
            </a:r>
            <a:r>
              <a:rPr lang="en-US" sz="2800" dirty="0" err="1">
                <a:latin typeface="Aptos" panose="020B0004020202020204" pitchFamily="34" charset="0"/>
              </a:rPr>
              <a:t>vásárló</a:t>
            </a:r>
            <a:r>
              <a:rPr lang="en-US" sz="2800" dirty="0">
                <a:latin typeface="Aptos" panose="020B0004020202020204" pitchFamily="34" charset="0"/>
              </a:rPr>
              <a:t> email </a:t>
            </a:r>
            <a:r>
              <a:rPr lang="en-US" sz="2800" dirty="0" err="1">
                <a:latin typeface="Aptos" panose="020B0004020202020204" pitchFamily="34" charset="0"/>
              </a:rPr>
              <a:t>címére</a:t>
            </a:r>
            <a:endParaRPr lang="en-US" sz="2800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endParaRPr lang="en-US" sz="2800" dirty="0"/>
          </a:p>
          <a:p>
            <a:pPr marL="457200" indent="-457200"/>
            <a:endParaRPr lang="en-US" sz="2800" dirty="0"/>
          </a:p>
          <a:p>
            <a:pPr marL="0" indent="0">
              <a:buNone/>
            </a:pPr>
            <a:endParaRPr lang="en-US" sz="28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28D01-A13B-443B-AE94-464E164AB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85EAE-3D2A-47E5-845C-4E803E588834}" type="datetime1">
              <a:rPr lang="en-US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F97E2-3C9A-D0ED-E1D1-ED88E843D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6B844-D843-BA4D-C489-1953C7B8A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7DE1FC-E54A-4B87-A814-263D1E8654B2}" type="slidenum">
              <a:rPr lang="en-US" dirty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0793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8742BB70-486A-6F98-40B5-1982C5719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3EC5068A-3B16-6EBD-6582-C626967E9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r>
              <a:rPr lang="hu-HU" dirty="0">
                <a:latin typeface="Aptos" panose="020B0004020202020204" pitchFamily="34" charset="0"/>
              </a:rPr>
              <a:t>  Adatbázis tervezése és működése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BD30DB06-33F4-4735-AAE8-C98875DD54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8995" y="1199325"/>
            <a:ext cx="8198285" cy="4455720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Aptos" panose="020B0004020202020204" pitchFamily="34" charset="0"/>
              </a:rPr>
              <a:t>A </a:t>
            </a:r>
            <a:r>
              <a:rPr lang="en-US" dirty="0" err="1">
                <a:latin typeface="Aptos" panose="020B0004020202020204" pitchFamily="34" charset="0"/>
              </a:rPr>
              <a:t>projektünk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egy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digitális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termékeket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árusító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webshop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amely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játékokat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kulcsokat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és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giftcardokat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kezel</a:t>
            </a:r>
            <a:r>
              <a:rPr lang="en-US" dirty="0">
                <a:latin typeface="Aptos" panose="020B0004020202020204" pitchFamily="34" charset="0"/>
              </a:rPr>
              <a:t>. A </a:t>
            </a:r>
            <a:r>
              <a:rPr lang="en-US" dirty="0" err="1">
                <a:latin typeface="Aptos" panose="020B0004020202020204" pitchFamily="34" charset="0"/>
              </a:rPr>
              <a:t>rendszer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egyik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legfontosabb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része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az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adatbázis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amely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minden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felhasználói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termék</a:t>
            </a:r>
            <a:r>
              <a:rPr lang="en-US" dirty="0">
                <a:latin typeface="Aptos" panose="020B0004020202020204" pitchFamily="34" charset="0"/>
              </a:rPr>
              <a:t>- </a:t>
            </a:r>
            <a:r>
              <a:rPr lang="en-US" dirty="0" err="1">
                <a:latin typeface="Aptos" panose="020B0004020202020204" pitchFamily="34" charset="0"/>
              </a:rPr>
              <a:t>és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rendelési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adatot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tárol</a:t>
            </a:r>
            <a:r>
              <a:rPr lang="en-US" dirty="0">
                <a:latin typeface="Aptos" panose="020B0004020202020204" pitchFamily="34" charset="0"/>
              </a:rPr>
              <a:t>.</a:t>
            </a:r>
            <a:endParaRPr lang="hu-HU" dirty="0">
              <a:latin typeface="Aptos" panose="020B0004020202020204" pitchFamily="34" charset="0"/>
            </a:endParaRPr>
          </a:p>
        </p:txBody>
      </p:sp>
      <p:pic>
        <p:nvPicPr>
          <p:cNvPr id="6" name="Kép 5" descr="A képen képernyőkép, kör, tervezés látható&#10;&#10;Lehet, hogy az AI által létrehozott tartalom helytelen.">
            <a:extLst>
              <a:ext uri="{FF2B5EF4-FFF2-40B4-BE49-F238E27FC236}">
                <a16:creationId xmlns:a16="http://schemas.microsoft.com/office/drawing/2014/main" id="{A6C45D6F-3E8F-ECB2-6243-2A85CAF567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78455" y="3134595"/>
            <a:ext cx="3509376" cy="350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290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A6E552-F455-68DF-D4F9-98F82AE37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7C5DB142-E73E-E299-E2F2-027211FD6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71EE6803-4D57-D1C8-21FA-0F10A1D489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r>
              <a:rPr lang="hu-HU" dirty="0"/>
              <a:t>  </a:t>
            </a:r>
            <a:r>
              <a:rPr lang="hu-HU" dirty="0">
                <a:latin typeface="Aptos" panose="020B0004020202020204" pitchFamily="34" charset="0"/>
              </a:rPr>
              <a:t>Adatbázis technológiája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F5F2836B-4758-1D4C-6205-DA829706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83872"/>
            <a:ext cx="8177409" cy="4393091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Aptos" panose="020B0004020202020204" pitchFamily="34" charset="0"/>
              </a:rPr>
              <a:t> – MySQL </a:t>
            </a:r>
            <a:r>
              <a:rPr lang="en-US" dirty="0" err="1">
                <a:latin typeface="Aptos" panose="020B0004020202020204" pitchFamily="34" charset="0"/>
              </a:rPr>
              <a:t>adatbázis</a:t>
            </a:r>
            <a:endParaRPr lang="hu-HU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dirty="0">
                <a:latin typeface="Aptos" panose="020B0004020202020204" pitchFamily="34" charset="0"/>
              </a:rPr>
              <a:t> – XAMPP </a:t>
            </a:r>
            <a:r>
              <a:rPr lang="en-US" dirty="0" err="1">
                <a:latin typeface="Aptos" panose="020B0004020202020204" pitchFamily="34" charset="0"/>
              </a:rPr>
              <a:t>környezet</a:t>
            </a:r>
            <a:endParaRPr lang="en-US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dirty="0">
                <a:latin typeface="Aptos" panose="020B0004020202020204" pitchFamily="34" charset="0"/>
              </a:rPr>
              <a:t> – phpMyAdmin </a:t>
            </a:r>
            <a:r>
              <a:rPr lang="en-US" dirty="0" err="1">
                <a:latin typeface="Aptos" panose="020B0004020202020204" pitchFamily="34" charset="0"/>
              </a:rPr>
              <a:t>kezelőfelület</a:t>
            </a:r>
            <a:endParaRPr lang="en-US" dirty="0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dirty="0">
                <a:latin typeface="Aptos" panose="020B0004020202020204" pitchFamily="34" charset="0"/>
              </a:rPr>
              <a:t> – Backend: Node.js + Express + </a:t>
            </a:r>
            <a:r>
              <a:rPr lang="en-US" dirty="0" err="1">
                <a:latin typeface="Aptos" panose="020B0004020202020204" pitchFamily="34" charset="0"/>
              </a:rPr>
              <a:t>Sequelize</a:t>
            </a:r>
            <a:r>
              <a:rPr lang="en-US" dirty="0">
                <a:latin typeface="Aptos" panose="020B0004020202020204" pitchFamily="34" charset="0"/>
              </a:rPr>
              <a:t> ORM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dirty="0"/>
              <a:t> 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E17A0608-47A3-C147-6343-BBD557C1E2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8668" y="5027308"/>
            <a:ext cx="3739019" cy="717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5015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D64042-20D0-67F0-65F1-8F17213B8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5D6337F2-17AB-0922-3C43-6867BF788D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ACC30DF9-6F70-AFE7-D226-9C4487BBE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r>
              <a:rPr lang="hu-HU" dirty="0">
                <a:latin typeface="Aptos" panose="020B0004020202020204" pitchFamily="34" charset="0"/>
              </a:rPr>
              <a:t>  Az adatbázis fő táblái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740745C6-1A0C-699F-7DBA-97673D1AE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14300" indent="0">
              <a:buNone/>
            </a:pPr>
            <a:endParaRPr lang="en-US" dirty="0"/>
          </a:p>
        </p:txBody>
      </p:sp>
      <p:pic>
        <p:nvPicPr>
          <p:cNvPr id="6" name="Kép 5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E7398E30-B227-42B0-1970-741FAB17D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719002"/>
            <a:ext cx="10972800" cy="254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1760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6780F-48FF-AF6D-8FBC-D89FB32E2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844F1DE9-9C91-25BC-C8AC-4FC52CACE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CF798A6-77D3-E4E6-0416-FBA858A607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r>
              <a:rPr lang="hu-HU" dirty="0">
                <a:latin typeface="Aptos" panose="020B0004020202020204" pitchFamily="34" charset="0"/>
              </a:rPr>
              <a:t>  </a:t>
            </a:r>
            <a:r>
              <a:rPr lang="hu-HU" dirty="0" err="1">
                <a:latin typeface="Aptos" panose="020B0004020202020204" pitchFamily="34" charset="0"/>
              </a:rPr>
              <a:t>Users</a:t>
            </a:r>
            <a:r>
              <a:rPr lang="hu-HU" dirty="0">
                <a:latin typeface="Aptos" panose="020B0004020202020204" pitchFamily="34" charset="0"/>
              </a:rPr>
              <a:t> tábla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1776E0D-83C0-CAA2-1A3D-64F57572A1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7679" y="1324584"/>
            <a:ext cx="5505190" cy="4393091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Aptos" panose="020B0004020202020204" pitchFamily="34" charset="0"/>
              </a:rPr>
              <a:t>A </a:t>
            </a:r>
            <a:r>
              <a:rPr lang="en-US" dirty="0" err="1">
                <a:latin typeface="Aptos" panose="020B0004020202020204" pitchFamily="34" charset="0"/>
              </a:rPr>
              <a:t>felhasználók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adatait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tárolja</a:t>
            </a:r>
            <a:r>
              <a:rPr lang="en-US" dirty="0">
                <a:latin typeface="Aptos" panose="020B0004020202020204" pitchFamily="34" charset="0"/>
              </a:rPr>
              <a:t>: </a:t>
            </a:r>
            <a:endParaRPr lang="hu-HU" dirty="0">
              <a:latin typeface="Aptos" panose="020B0004020202020204" pitchFamily="34" charset="0"/>
            </a:endParaRPr>
          </a:p>
          <a:p>
            <a:pPr marL="114300" indent="0">
              <a:buNone/>
            </a:pPr>
            <a:r>
              <a:rPr lang="en-US" dirty="0">
                <a:latin typeface="Aptos" panose="020B0004020202020204" pitchFamily="34" charset="0"/>
              </a:rPr>
              <a:t>email, </a:t>
            </a:r>
            <a:r>
              <a:rPr lang="en-US" dirty="0" err="1">
                <a:latin typeface="Aptos" panose="020B0004020202020204" pitchFamily="34" charset="0"/>
              </a:rPr>
              <a:t>jelszó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név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regisztráció</a:t>
            </a:r>
            <a:r>
              <a:rPr lang="en-US" dirty="0">
                <a:latin typeface="Aptos" panose="020B0004020202020204" pitchFamily="34" charset="0"/>
              </a:rPr>
              <a:t>.</a:t>
            </a:r>
            <a:endParaRPr lang="hu-HU" dirty="0">
              <a:latin typeface="Aptos" panose="020B0004020202020204" pitchFamily="34" charset="0"/>
            </a:endParaRPr>
          </a:p>
        </p:txBody>
      </p:sp>
      <p:pic>
        <p:nvPicPr>
          <p:cNvPr id="5" name="Kép 4" descr="A képen szöveg, képernyőkép, Betűtípus, sor látható&#10;&#10;Lehet, hogy az AI által létrehozott tartalom helytelen.">
            <a:extLst>
              <a:ext uri="{FF2B5EF4-FFF2-40B4-BE49-F238E27FC236}">
                <a16:creationId xmlns:a16="http://schemas.microsoft.com/office/drawing/2014/main" id="{A699C8B2-633A-4615-1767-9D2AAFCD1A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788" y="2789912"/>
            <a:ext cx="10968233" cy="1455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073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B8EBE-D4FB-A08E-AAD1-05203E29F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791B82C5-1F90-06B2-A205-D9B8D262D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3E87FD6C-7983-80CD-F2E8-DFC3F2A379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r>
              <a:rPr lang="hu-HU" dirty="0"/>
              <a:t>  </a:t>
            </a:r>
            <a:r>
              <a:rPr lang="hu-HU" dirty="0">
                <a:latin typeface="Aptos" panose="020B0004020202020204" pitchFamily="34" charset="0"/>
              </a:rPr>
              <a:t>Products tábla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F9005AF-D482-AC0D-EE45-2871B6CA9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3213" y="1324585"/>
            <a:ext cx="11945656" cy="4455720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Aptos" panose="020B0004020202020204" pitchFamily="34" charset="0"/>
              </a:rPr>
              <a:t>A </a:t>
            </a:r>
            <a:r>
              <a:rPr lang="en-US" dirty="0" err="1">
                <a:latin typeface="Aptos" panose="020B0004020202020204" pitchFamily="34" charset="0"/>
              </a:rPr>
              <a:t>webshop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összes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termékét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tartalmazza</a:t>
            </a:r>
            <a:r>
              <a:rPr lang="en-US" dirty="0">
                <a:latin typeface="Aptos" panose="020B0004020202020204" pitchFamily="34" charset="0"/>
              </a:rPr>
              <a:t>: </a:t>
            </a:r>
            <a:r>
              <a:rPr lang="en-US" dirty="0" err="1">
                <a:latin typeface="Aptos" panose="020B0004020202020204" pitchFamily="34" charset="0"/>
              </a:rPr>
              <a:t>név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ár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leírás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kategória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kép</a:t>
            </a:r>
            <a:r>
              <a:rPr lang="en-US" dirty="0">
                <a:latin typeface="Aptos" panose="020B0004020202020204" pitchFamily="34" charset="0"/>
              </a:rPr>
              <a:t>.</a:t>
            </a:r>
            <a:endParaRPr lang="hu-HU" dirty="0">
              <a:latin typeface="Aptos" panose="020B0004020202020204" pitchFamily="34" charset="0"/>
            </a:endParaRPr>
          </a:p>
        </p:txBody>
      </p:sp>
      <p:pic>
        <p:nvPicPr>
          <p:cNvPr id="5" name="Kép 4" descr="A képen szöveg, képernyőkép, szám, Betűtípus látható&#10;&#10;Lehet, hogy az AI által létrehozott tartalom helytelen.">
            <a:extLst>
              <a:ext uri="{FF2B5EF4-FFF2-40B4-BE49-F238E27FC236}">
                <a16:creationId xmlns:a16="http://schemas.microsoft.com/office/drawing/2014/main" id="{B85400FE-3BE8-10EF-521E-7C702C541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745" y="1940882"/>
            <a:ext cx="8621168" cy="4656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5525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95BFD0-5417-C59B-E0FD-4FCD9DC29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04A29D8E-B3C5-3050-33D3-97FC7FA6E0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F5A7CD72-5383-A096-FB0F-D1286B679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r>
              <a:rPr lang="hu-HU" dirty="0"/>
              <a:t>  </a:t>
            </a:r>
            <a:r>
              <a:rPr lang="hu-HU" dirty="0">
                <a:latin typeface="Aptos" panose="020B0004020202020204" pitchFamily="34" charset="0"/>
              </a:rPr>
              <a:t>Digitális kulcsok és </a:t>
            </a:r>
            <a:r>
              <a:rPr lang="hu-HU" dirty="0" err="1">
                <a:latin typeface="Aptos" panose="020B0004020202020204" pitchFamily="34" charset="0"/>
              </a:rPr>
              <a:t>giftcardok</a:t>
            </a:r>
            <a:endParaRPr lang="hu-HU" dirty="0">
              <a:latin typeface="Aptos" panose="020B0004020202020204" pitchFamily="34" charset="0"/>
            </a:endParaRP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A1B37C58-82D2-F8CA-7183-FC39149AB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9351" y="1481160"/>
            <a:ext cx="6110614" cy="4393091"/>
          </a:xfrm>
        </p:spPr>
        <p:txBody>
          <a:bodyPr/>
          <a:lstStyle/>
          <a:p>
            <a:pPr>
              <a:buNone/>
            </a:pPr>
            <a:r>
              <a:rPr lang="en-US" dirty="0"/>
              <a:t> </a:t>
            </a:r>
            <a:r>
              <a:rPr lang="en-US" dirty="0">
                <a:latin typeface="Aptos" panose="020B0004020202020204" pitchFamily="34" charset="0"/>
              </a:rPr>
              <a:t>– </a:t>
            </a:r>
            <a:r>
              <a:rPr lang="en-US" dirty="0" err="1">
                <a:latin typeface="Aptos" panose="020B0004020202020204" pitchFamily="34" charset="0"/>
              </a:rPr>
              <a:t>gamekeys</a:t>
            </a:r>
            <a:r>
              <a:rPr lang="en-US" dirty="0">
                <a:latin typeface="Aptos" panose="020B0004020202020204" pitchFamily="34" charset="0"/>
              </a:rPr>
              <a:t>: </a:t>
            </a:r>
            <a:r>
              <a:rPr lang="en-US" dirty="0" err="1">
                <a:latin typeface="Aptos" panose="020B0004020202020204" pitchFamily="34" charset="0"/>
              </a:rPr>
              <a:t>játék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kulcsok</a:t>
            </a:r>
            <a:endParaRPr lang="hu-HU" dirty="0" err="1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dirty="0">
                <a:latin typeface="Aptos" panose="020B0004020202020204" pitchFamily="34" charset="0"/>
              </a:rPr>
              <a:t> – </a:t>
            </a:r>
            <a:r>
              <a:rPr lang="en-US" dirty="0" err="1">
                <a:latin typeface="Aptos" panose="020B0004020202020204" pitchFamily="34" charset="0"/>
              </a:rPr>
              <a:t>giftcards</a:t>
            </a:r>
            <a:r>
              <a:rPr lang="en-US" dirty="0">
                <a:latin typeface="Aptos" panose="020B0004020202020204" pitchFamily="34" charset="0"/>
              </a:rPr>
              <a:t>: </a:t>
            </a:r>
            <a:r>
              <a:rPr lang="en-US" dirty="0" err="1">
                <a:latin typeface="Aptos" panose="020B0004020202020204" pitchFamily="34" charset="0"/>
              </a:rPr>
              <a:t>ajándékkártyák</a:t>
            </a:r>
            <a:endParaRPr lang="en-US" dirty="0">
              <a:latin typeface="Aptos" panose="020B0004020202020204" pitchFamily="34" charset="0"/>
            </a:endParaRPr>
          </a:p>
          <a:p>
            <a:pPr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Kép 4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FAB15C41-5823-A6C2-382B-DC3A56DEC4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1819" y="1534700"/>
            <a:ext cx="4876800" cy="3162300"/>
          </a:xfrm>
          <a:prstGeom prst="rect">
            <a:avLst/>
          </a:prstGeom>
        </p:spPr>
      </p:pic>
      <p:pic>
        <p:nvPicPr>
          <p:cNvPr id="6" name="Kép 5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67CD0B1E-7950-676D-40BE-89BC6F949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058" y="3113500"/>
            <a:ext cx="6590648" cy="2766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7453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91986-3741-CB2F-10F0-09EE4D091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1E1E900D-7C5E-E363-875D-028FC629B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44DE9F5-38E9-C5BF-4091-D6355CA2C0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r>
              <a:rPr lang="hu-HU" dirty="0">
                <a:latin typeface="Aptos" panose="020B0004020202020204" pitchFamily="34" charset="0"/>
              </a:rPr>
              <a:t>  Kosár és rendelés logika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EB502A82-5B71-4F1F-E196-34DF9C7CB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1981" y="1512475"/>
            <a:ext cx="5484313" cy="4393091"/>
          </a:xfrm>
        </p:spPr>
        <p:txBody>
          <a:bodyPr/>
          <a:lstStyle/>
          <a:p>
            <a:pPr>
              <a:buNone/>
            </a:pPr>
            <a:r>
              <a:rPr lang="en-US" dirty="0">
                <a:latin typeface="Aptos" panose="020B0004020202020204" pitchFamily="34" charset="0"/>
              </a:rPr>
              <a:t> – </a:t>
            </a:r>
            <a:r>
              <a:rPr lang="en-US" dirty="0" err="1">
                <a:latin typeface="Aptos" panose="020B0004020202020204" pitchFamily="34" charset="0"/>
              </a:rPr>
              <a:t>cart_items</a:t>
            </a:r>
            <a:r>
              <a:rPr lang="en-US" dirty="0">
                <a:latin typeface="Aptos" panose="020B0004020202020204" pitchFamily="34" charset="0"/>
              </a:rPr>
              <a:t>: </a:t>
            </a:r>
            <a:r>
              <a:rPr lang="en-US" dirty="0" err="1">
                <a:latin typeface="Aptos" panose="020B0004020202020204" pitchFamily="34" charset="0"/>
              </a:rPr>
              <a:t>kosár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tartalma</a:t>
            </a:r>
            <a:endParaRPr lang="hu-HU" dirty="0" err="1">
              <a:latin typeface="Aptos" panose="020B0004020202020204" pitchFamily="34" charset="0"/>
            </a:endParaRPr>
          </a:p>
          <a:p>
            <a:pPr>
              <a:buNone/>
            </a:pPr>
            <a:r>
              <a:rPr lang="en-US" dirty="0">
                <a:latin typeface="Aptos" panose="020B0004020202020204" pitchFamily="34" charset="0"/>
              </a:rPr>
              <a:t> – orders: </a:t>
            </a:r>
            <a:r>
              <a:rPr lang="en-US" dirty="0" err="1">
                <a:latin typeface="Aptos" panose="020B0004020202020204" pitchFamily="34" charset="0"/>
              </a:rPr>
              <a:t>rendelések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adatai</a:t>
            </a:r>
          </a:p>
          <a:p>
            <a:pPr>
              <a:buNone/>
            </a:pPr>
            <a:r>
              <a:rPr lang="en-US" dirty="0">
                <a:latin typeface="Aptos" panose="020B0004020202020204" pitchFamily="34" charset="0"/>
              </a:rPr>
              <a:t> – </a:t>
            </a:r>
            <a:r>
              <a:rPr lang="en-US" dirty="0" err="1">
                <a:latin typeface="Aptos" panose="020B0004020202020204" pitchFamily="34" charset="0"/>
              </a:rPr>
              <a:t>orderdetails</a:t>
            </a:r>
            <a:r>
              <a:rPr lang="en-US" dirty="0">
                <a:latin typeface="Aptos" panose="020B0004020202020204" pitchFamily="34" charset="0"/>
              </a:rPr>
              <a:t>: </a:t>
            </a:r>
            <a:r>
              <a:rPr lang="en-US" dirty="0" err="1">
                <a:latin typeface="Aptos" panose="020B0004020202020204" pitchFamily="34" charset="0"/>
              </a:rPr>
              <a:t>rendelés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tételei</a:t>
            </a:r>
            <a:endParaRPr lang="en-US" dirty="0">
              <a:latin typeface="Aptos" panose="020B0004020202020204" pitchFamily="34" charset="0"/>
            </a:endParaRP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5" name="Kép 4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4078507C-C1D1-CBAA-D987-34A5865035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9425" y="1510887"/>
            <a:ext cx="5501014" cy="2093020"/>
          </a:xfrm>
          <a:prstGeom prst="rect">
            <a:avLst/>
          </a:prstGeom>
        </p:spPr>
      </p:pic>
      <p:pic>
        <p:nvPicPr>
          <p:cNvPr id="6" name="Kép 5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197C2066-D588-942A-F5EC-E066A91FE6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670" y="3967163"/>
            <a:ext cx="8545099" cy="229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72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CCC222-14EF-BE13-37E6-EA0743F1B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F22DA5A2-EAA1-913A-AFEA-0A96C27A9D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359C8CA5-F065-4BE2-21CC-C44EE92B5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r>
              <a:rPr lang="hu-HU" dirty="0"/>
              <a:t>  Szállítási adatok 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AD8580E-ECE8-8DE1-BA57-45347451C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8830" y="1220200"/>
            <a:ext cx="5275546" cy="4393091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dirty="0"/>
              <a:t>Az orders </a:t>
            </a:r>
            <a:r>
              <a:rPr lang="en-US" dirty="0" err="1"/>
              <a:t>táblában</a:t>
            </a:r>
            <a:r>
              <a:rPr lang="en-US" dirty="0"/>
              <a:t> </a:t>
            </a:r>
            <a:r>
              <a:rPr lang="en-US" dirty="0" err="1"/>
              <a:t>találhatóak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dirty="0"/>
              <a:t>– </a:t>
            </a:r>
            <a:r>
              <a:rPr lang="en-US" dirty="0" err="1"/>
              <a:t>first_name</a:t>
            </a:r>
          </a:p>
          <a:p>
            <a:pPr>
              <a:buNone/>
            </a:pPr>
            <a:r>
              <a:rPr lang="en-US" dirty="0"/>
              <a:t> – </a:t>
            </a:r>
            <a:r>
              <a:rPr lang="en-US" dirty="0" err="1"/>
              <a:t>last_name</a:t>
            </a:r>
          </a:p>
          <a:p>
            <a:pPr>
              <a:buNone/>
            </a:pPr>
            <a:r>
              <a:rPr lang="en-US" dirty="0"/>
              <a:t> – email</a:t>
            </a:r>
          </a:p>
          <a:p>
            <a:pPr>
              <a:buNone/>
            </a:pPr>
            <a:r>
              <a:rPr lang="en-US" dirty="0"/>
              <a:t> – phone</a:t>
            </a:r>
          </a:p>
          <a:p>
            <a:pPr>
              <a:buNone/>
            </a:pPr>
            <a:r>
              <a:rPr lang="en-US" dirty="0"/>
              <a:t> – </a:t>
            </a:r>
            <a:r>
              <a:rPr lang="en-US" dirty="0" err="1"/>
              <a:t>zip_code</a:t>
            </a:r>
          </a:p>
          <a:p>
            <a:pPr>
              <a:buNone/>
            </a:pPr>
            <a:r>
              <a:rPr lang="en-US" dirty="0"/>
              <a:t> – city</a:t>
            </a:r>
          </a:p>
          <a:p>
            <a:pPr>
              <a:buNone/>
            </a:pPr>
            <a:r>
              <a:rPr lang="en-US" dirty="0"/>
              <a:t> – </a:t>
            </a:r>
            <a:r>
              <a:rPr lang="en-US" dirty="0" err="1"/>
              <a:t>address_line</a:t>
            </a:r>
          </a:p>
          <a:p>
            <a:pPr>
              <a:buNone/>
            </a:pPr>
            <a:r>
              <a:rPr lang="en-US" dirty="0"/>
              <a:t> – </a:t>
            </a:r>
            <a:r>
              <a:rPr lang="en-US" dirty="0" err="1"/>
              <a:t>additional_info</a:t>
            </a:r>
          </a:p>
          <a:p>
            <a:pPr marL="114300" indent="0">
              <a:buNone/>
            </a:pPr>
            <a:endParaRPr lang="en-US" dirty="0"/>
          </a:p>
        </p:txBody>
      </p:sp>
      <p:pic>
        <p:nvPicPr>
          <p:cNvPr id="6" name="Kép 5" descr="A képen szöveg, képernyőkép, Betűtípus, szám látható&#10;&#10;Lehet, hogy az AI által létrehozott tartalom helytelen.">
            <a:extLst>
              <a:ext uri="{FF2B5EF4-FFF2-40B4-BE49-F238E27FC236}">
                <a16:creationId xmlns:a16="http://schemas.microsoft.com/office/drawing/2014/main" id="{A127FF57-DF48-EB9B-D909-D41470220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7712" y="1927833"/>
            <a:ext cx="8870385" cy="2386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079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EEF0D-EE2B-1AB2-09F0-707619413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50CE8C4B-D505-73E8-6EFD-5581DF5869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E74CBB34-FBBF-8F90-9E9F-C4EF4B00B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r>
              <a:rPr lang="hu-HU" dirty="0">
                <a:latin typeface="Aptos" panose="020B0004020202020204" pitchFamily="34" charset="0"/>
              </a:rPr>
              <a:t>  Kapcsolatok az adatbázisban</a:t>
            </a:r>
          </a:p>
        </p:txBody>
      </p:sp>
      <p:pic>
        <p:nvPicPr>
          <p:cNvPr id="5" name="Kép 4" descr="A képen szöveg, képernyőkép, Betűtípus, diagram látható&#10;&#10;Lehet, hogy az AI által létrehozott tartalom helytelen.">
            <a:extLst>
              <a:ext uri="{FF2B5EF4-FFF2-40B4-BE49-F238E27FC236}">
                <a16:creationId xmlns:a16="http://schemas.microsoft.com/office/drawing/2014/main" id="{FF45638A-33FC-B812-A640-F45F8144C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86" y="1064391"/>
            <a:ext cx="11012467" cy="5585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998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358C2-425D-6A7A-A240-41CE1F1A8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3">
            <a:extLst>
              <a:ext uri="{FF2B5EF4-FFF2-40B4-BE49-F238E27FC236}">
                <a16:creationId xmlns:a16="http://schemas.microsoft.com/office/drawing/2014/main" id="{70C1F853-F999-501E-7CE2-847A81CE35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ím 1">
            <a:extLst>
              <a:ext uri="{FF2B5EF4-FFF2-40B4-BE49-F238E27FC236}">
                <a16:creationId xmlns:a16="http://schemas.microsoft.com/office/drawing/2014/main" id="{CD1CC61E-060B-DB32-C49C-8E0F12301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2" y="-217"/>
            <a:ext cx="10515600" cy="1325563"/>
          </a:xfrm>
        </p:spPr>
        <p:txBody>
          <a:bodyPr/>
          <a:lstStyle/>
          <a:p>
            <a:r>
              <a:rPr lang="hu-HU" dirty="0">
                <a:latin typeface="Aptos" panose="020B0004020202020204" pitchFamily="34" charset="0"/>
              </a:rPr>
              <a:t>  Összegzés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114CAEEA-78B0-D28A-28F2-6070994996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31681"/>
            <a:ext cx="9837107" cy="4445282"/>
          </a:xfrm>
        </p:spPr>
        <p:txBody>
          <a:bodyPr/>
          <a:lstStyle/>
          <a:p>
            <a:pPr marL="114300" indent="0">
              <a:buNone/>
            </a:pPr>
            <a:r>
              <a:rPr lang="en-US" dirty="0">
                <a:latin typeface="Aptos" panose="020B0004020202020204" pitchFamily="34" charset="0"/>
              </a:rPr>
              <a:t>Az </a:t>
            </a:r>
            <a:r>
              <a:rPr lang="en-US" dirty="0" err="1">
                <a:latin typeface="Aptos" panose="020B0004020202020204" pitchFamily="34" charset="0"/>
              </a:rPr>
              <a:t>adatbázis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stabil</a:t>
            </a:r>
            <a:r>
              <a:rPr lang="en-US" dirty="0">
                <a:latin typeface="Aptos" panose="020B0004020202020204" pitchFamily="34" charset="0"/>
              </a:rPr>
              <a:t>, </a:t>
            </a:r>
            <a:r>
              <a:rPr lang="en-US" dirty="0" err="1">
                <a:latin typeface="Aptos" panose="020B0004020202020204" pitchFamily="34" charset="0"/>
              </a:rPr>
              <a:t>bővíthető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és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teljes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mértékben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támogatja</a:t>
            </a:r>
            <a:r>
              <a:rPr lang="en-US" dirty="0">
                <a:latin typeface="Aptos" panose="020B0004020202020204" pitchFamily="34" charset="0"/>
              </a:rPr>
              <a:t> a </a:t>
            </a:r>
            <a:r>
              <a:rPr lang="en-US" dirty="0" err="1">
                <a:latin typeface="Aptos" panose="020B0004020202020204" pitchFamily="34" charset="0"/>
              </a:rPr>
              <a:t>webshop</a:t>
            </a:r>
            <a:r>
              <a:rPr lang="en-US" dirty="0">
                <a:latin typeface="Aptos" panose="020B0004020202020204" pitchFamily="34" charset="0"/>
              </a:rPr>
              <a:t> </a:t>
            </a:r>
            <a:r>
              <a:rPr lang="en-US" dirty="0" err="1">
                <a:latin typeface="Aptos" panose="020B0004020202020204" pitchFamily="34" charset="0"/>
              </a:rPr>
              <a:t>működését</a:t>
            </a:r>
            <a:r>
              <a:rPr lang="en-US" dirty="0">
                <a:latin typeface="Aptos" panose="020B0004020202020204" pitchFamily="34" charset="0"/>
              </a:rPr>
              <a:t>.</a:t>
            </a:r>
            <a:endParaRPr lang="hu-HU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062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6">
            <a:extLst>
              <a:ext uri="{FF2B5EF4-FFF2-40B4-BE49-F238E27FC236}">
                <a16:creationId xmlns:a16="http://schemas.microsoft.com/office/drawing/2014/main" id="{8ACAF97D-22E2-B68B-C054-FEF1328E1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Kép 7">
            <a:extLst>
              <a:ext uri="{FF2B5EF4-FFF2-40B4-BE49-F238E27FC236}">
                <a16:creationId xmlns:a16="http://schemas.microsoft.com/office/drawing/2014/main" id="{AF193742-FB31-D2E9-1C5E-C3A95A4B8A6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153151"/>
            <a:ext cx="7606602" cy="1325563"/>
          </a:xfrm>
          <a:prstGeom prst="rect">
            <a:avLst/>
          </a:prstGeom>
        </p:spPr>
      </p:pic>
      <p:sp>
        <p:nvSpPr>
          <p:cNvPr id="350" name="Google Shape;350;p32"/>
          <p:cNvSpPr txBox="1">
            <a:spLocks noGrp="1"/>
          </p:cNvSpPr>
          <p:nvPr>
            <p:ph type="title"/>
          </p:nvPr>
        </p:nvSpPr>
        <p:spPr>
          <a:xfrm>
            <a:off x="381002" y="4153152"/>
            <a:ext cx="6347459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Köszönjük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 a </a:t>
            </a:r>
            <a:r>
              <a:rPr lang="en-US" dirty="0" err="1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figyelmet</a:t>
            </a:r>
            <a:r>
              <a:rPr lang="en-US" dirty="0">
                <a:solidFill>
                  <a:schemeClr val="tx1"/>
                </a:solidFill>
                <a:latin typeface="Aptos" panose="020B0004020202020204" pitchFamily="34" charset="0"/>
                <a:ea typeface="Arial"/>
                <a:cs typeface="Arial"/>
                <a:sym typeface="Arial"/>
              </a:rPr>
              <a:t>!</a:t>
            </a:r>
            <a:endParaRPr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2" name="Kép 1">
            <a:extLst>
              <a:ext uri="{FF2B5EF4-FFF2-40B4-BE49-F238E27FC236}">
                <a16:creationId xmlns:a16="http://schemas.microsoft.com/office/drawing/2014/main" id="{3B440C9A-FDD1-99CE-8DBC-F77952BD96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26545" y="1104645"/>
            <a:ext cx="7738909" cy="270460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-téma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1369</TotalTime>
  <Words>799</Words>
  <Application>Microsoft Office PowerPoint</Application>
  <PresentationFormat>Szélesvásznú</PresentationFormat>
  <Paragraphs>193</Paragraphs>
  <Slides>27</Slides>
  <Notes>8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27</vt:i4>
      </vt:variant>
    </vt:vector>
  </HeadingPairs>
  <TitlesOfParts>
    <vt:vector size="35" baseType="lpstr">
      <vt:lpstr>Wingdings</vt:lpstr>
      <vt:lpstr>Aptos</vt:lpstr>
      <vt:lpstr>Arial,Sans-Serif</vt:lpstr>
      <vt:lpstr>Arial</vt:lpstr>
      <vt:lpstr>Play</vt:lpstr>
      <vt:lpstr>Avenir Next LT Pro Light</vt:lpstr>
      <vt:lpstr>Calibri</vt:lpstr>
      <vt:lpstr>Office-téma</vt:lpstr>
      <vt:lpstr>PowerPoint-bemutató</vt:lpstr>
      <vt:lpstr>Projekt tagok</vt:lpstr>
      <vt:lpstr>Projekt témája</vt:lpstr>
      <vt:lpstr>Amit használtam</vt:lpstr>
      <vt:lpstr>Mappastruktúra</vt:lpstr>
      <vt:lpstr>App routes</vt:lpstr>
      <vt:lpstr>Kosár + Pénztár</vt:lpstr>
      <vt:lpstr>Felugró ablakok</vt:lpstr>
      <vt:lpstr>Tovább fejlesztés</vt:lpstr>
      <vt:lpstr>a backend</vt:lpstr>
      <vt:lpstr>projektstruktúra</vt:lpstr>
      <vt:lpstr>Middlewares</vt:lpstr>
      <vt:lpstr>REGISTER &amp; login</vt:lpstr>
      <vt:lpstr>Cart &amp; order/checkout</vt:lpstr>
      <vt:lpstr>API működés/postman tesztek</vt:lpstr>
      <vt:lpstr>Továbbfejlesztések</vt:lpstr>
      <vt:lpstr>  Adatbázis tervezése és működése</vt:lpstr>
      <vt:lpstr>  Adatbázis technológiája</vt:lpstr>
      <vt:lpstr>  Az adatbázis fő táblái</vt:lpstr>
      <vt:lpstr>  Users tábla</vt:lpstr>
      <vt:lpstr>  Products tábla</vt:lpstr>
      <vt:lpstr>  Digitális kulcsok és giftcardok</vt:lpstr>
      <vt:lpstr>  Kosár és rendelés logika</vt:lpstr>
      <vt:lpstr>  Szállítási adatok </vt:lpstr>
      <vt:lpstr>  Kapcsolatok az adatbázisban</vt:lpstr>
      <vt:lpstr>  Összegzés</vt:lpstr>
      <vt:lpstr>Köszönjük a figyelmet!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O365 felhasználó</dc:creator>
  <cp:lastModifiedBy>O365 felhasználó</cp:lastModifiedBy>
  <cp:revision>44</cp:revision>
  <dcterms:created xsi:type="dcterms:W3CDTF">2026-01-07T20:40:53Z</dcterms:created>
  <dcterms:modified xsi:type="dcterms:W3CDTF">2026-03-17T21:23:29Z</dcterms:modified>
</cp:coreProperties>
</file>